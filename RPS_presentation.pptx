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0" y="457200"/>
            <a:ext cx="1219169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6B6B"/>
                </a:solidFill>
                <a:latin typeface="맑은 고딕"/>
              </a:defRPr>
            </a:pPr>
            <a:r>
              <a:t>BNI KOREA × TOWN X  |  POWERTEAM TOOLKIT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371600"/>
            <a:ext cx="10362895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5200" b="1">
                <a:solidFill>
                  <a:srgbClr val="FFFFFF"/>
                </a:solidFill>
                <a:latin typeface="맑은 고딕"/>
              </a:defRPr>
            </a:pPr>
            <a:r>
              <a:t>RPS로</a:t>
            </a:r>
            <a:br/>
            <a:r>
              <a:t>리퍼럴 파트너를</a:t>
            </a:r>
            <a:br/>
            <a:r>
              <a:t>확보하세요</a:t>
            </a:r>
          </a:p>
        </p:txBody>
      </p:sp>
      <p:sp>
        <p:nvSpPr>
          <p:cNvPr id="4" name="Rectangle 3"/>
          <p:cNvSpPr/>
          <p:nvPr/>
        </p:nvSpPr>
        <p:spPr>
          <a:xfrm>
            <a:off x="5394960" y="3383280"/>
            <a:ext cx="1371600" cy="54864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828800" y="3566160"/>
            <a:ext cx="853409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999999"/>
                </a:solidFill>
                <a:latin typeface="맑은 고딕"/>
              </a:defRPr>
            </a:pPr>
            <a:r>
              <a:t>Referral Partner Scoreboard  |  사용 가이드 &amp; 데이터 인사이트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474720" y="4389120"/>
            <a:ext cx="16459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000" b="1">
                <a:solidFill>
                  <a:srgbClr val="FFFFFF"/>
                </a:solidFill>
                <a:latin typeface="맑은 고딕"/>
              </a:defRPr>
            </a:pPr>
            <a:r>
              <a:t>35+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474720" y="4937760"/>
            <a:ext cx="16459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999999"/>
                </a:solidFill>
                <a:latin typeface="맑은 고딕"/>
              </a:defRPr>
            </a:pPr>
            <a:r>
              <a:t>Global Power Team</a:t>
            </a:r>
            <a:br/>
            <a:r>
              <a:t>참여 국가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0" y="4389120"/>
            <a:ext cx="16459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000" b="1">
                <a:solidFill>
                  <a:srgbClr val="FFFFFF"/>
                </a:solidFill>
                <a:latin typeface="맑은 고딕"/>
              </a:defRPr>
            </a:pPr>
            <a:r>
              <a:t>85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0" y="4937760"/>
            <a:ext cx="16459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999999"/>
                </a:solidFill>
                <a:latin typeface="맑은 고딕"/>
              </a:defRPr>
            </a:pPr>
            <a:r>
              <a:t>BNI Korea</a:t>
            </a:r>
            <a:br/>
            <a:r>
              <a:t>활성 챕터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498079" y="4389120"/>
            <a:ext cx="16459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000" b="1">
                <a:solidFill>
                  <a:srgbClr val="CC0000"/>
                </a:solidFill>
                <a:latin typeface="맑은 고딕"/>
              </a:defRPr>
            </a:pPr>
            <a:r>
              <a:t>0.62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498079" y="4937760"/>
            <a:ext cx="16459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999999"/>
                </a:solidFill>
                <a:latin typeface="맑은 고딕"/>
              </a:defRPr>
            </a:pPr>
            <a:r>
              <a:t>현재 BNI Korea</a:t>
            </a:r>
            <a:br/>
            <a:r>
              <a:t>평균 RPI</a:t>
            </a:r>
          </a:p>
        </p:txBody>
      </p:sp>
      <p:sp>
        <p:nvSpPr>
          <p:cNvPr id="12" name="Rectangle 11"/>
          <p:cNvSpPr/>
          <p:nvPr/>
        </p:nvSpPr>
        <p:spPr>
          <a:xfrm>
            <a:off x="0" y="6766560"/>
            <a:ext cx="12191695" cy="9144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65760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CC0000"/>
                </a:solidFill>
                <a:latin typeface="맑은 고딕"/>
              </a:defRPr>
            </a:pPr>
            <a:r>
              <a:t>GLOBAL CONTEXT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1A1A2E"/>
                </a:solidFill>
                <a:latin typeface="맑은 고딕"/>
              </a:defRPr>
            </a:pPr>
            <a:r>
              <a:t>글로벌 검증 시스템, 한국형 디지털 혁신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280160"/>
            <a:ext cx="1097280" cy="54864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645920"/>
            <a:ext cx="5303520" cy="2011680"/>
          </a:xfrm>
          <a:prstGeom prst="round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>
                <a:solidFill>
                  <a:srgbClr val="999999"/>
                </a:solidFill>
                <a:latin typeface="맑은 고딕"/>
              </a:defRPr>
            </a:pPr>
            <a:r>
              <a:t>BNI GLOBAL POWER TEAM (Since 2010)</a:t>
            </a:r>
          </a:p>
          <a:p>
            <a:pPr algn="l">
              <a:defRPr sz="1600" b="1">
                <a:solidFill>
                  <a:srgbClr val="FFFFFF"/>
                </a:solidFill>
                <a:latin typeface="맑은 고딕"/>
              </a:defRPr>
            </a:pPr>
            <a:r>
              <a:t>35+ 참여 국가  |  4가지 핵심 가치</a:t>
            </a:r>
          </a:p>
          <a:p>
            <a:pPr algn="l">
              <a:defRPr sz="1600" b="1">
                <a:solidFill>
                  <a:srgbClr val="FFFFFF"/>
                </a:solidFill>
                <a:latin typeface="맑은 고딕"/>
              </a:defRPr>
            </a:pPr>
          </a:p>
          <a:p>
            <a:pPr algn="l">
              <a:defRPr sz="1200" b="0">
                <a:solidFill>
                  <a:srgbClr val="CCCCCC"/>
                </a:solidFill>
                <a:latin typeface="맑은 고딕"/>
              </a:defRPr>
            </a:pPr>
            <a:r>
              <a:t>🌍 글로벌 네트워킹 — 35개국 이상 관계 구축</a:t>
            </a:r>
          </a:p>
          <a:p>
            <a:pPr algn="l">
              <a:defRPr sz="1200" b="0">
                <a:solidFill>
                  <a:srgbClr val="CCCCCC"/>
                </a:solidFill>
                <a:latin typeface="맑은 고딕"/>
              </a:defRPr>
            </a:pPr>
            <a:r>
              <a:t>📈 비즈니스 성장 — 고품질 소개 &amp; 신규 시장 진출</a:t>
            </a:r>
          </a:p>
          <a:p>
            <a:pPr algn="l">
              <a:defRPr sz="1200" b="0">
                <a:solidFill>
                  <a:srgbClr val="CCCCCC"/>
                </a:solidFill>
                <a:latin typeface="맑은 고딕"/>
              </a:defRPr>
            </a:pPr>
            <a:r>
              <a:t>🎓 전문성 개발 — 국제 비즈니스 역량 강화</a:t>
            </a:r>
          </a:p>
          <a:p>
            <a:pPr algn="l">
              <a:defRPr sz="1200" b="0">
                <a:solidFill>
                  <a:srgbClr val="CCCCCC"/>
                </a:solidFill>
                <a:latin typeface="맑은 고딕"/>
              </a:defRPr>
            </a:pPr>
            <a:r>
              <a:t>🤝 국경 간 협력 — 파트너십 &amp; 지식 공유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3840480"/>
            <a:ext cx="53035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666666"/>
                </a:solidFill>
                <a:latin typeface="맑은 고딕"/>
              </a:defRPr>
            </a:pPr>
            <a:r>
              <a:t>"Referrals are Intentional, not Random."</a:t>
            </a:r>
            <a:br/>
            <a:r>
              <a:t>— BNI Global Power Team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0" y="1645920"/>
            <a:ext cx="5120640" cy="329184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CC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400"/>
            </a:pPr>
          </a:p>
          <a:p>
            <a:pPr algn="ctr">
              <a:defRPr sz="1600" b="1">
                <a:solidFill>
                  <a:srgbClr val="CC0000"/>
                </a:solidFill>
                <a:latin typeface="맑은 고딕"/>
              </a:defRPr>
            </a:pPr>
            <a:r>
              <a:t>🇰🇷 한국의 혁신</a:t>
            </a:r>
          </a:p>
          <a:p>
            <a:pPr algn="l">
              <a:defRPr sz="600" b="0">
                <a:solidFill>
                  <a:srgbClr val="1A1A2E"/>
                </a:solidFill>
                <a:latin typeface="맑은 고딕"/>
              </a:defRPr>
            </a:pPr>
          </a:p>
          <a:p>
            <a:pPr algn="l">
              <a:defRPr sz="1300" b="0">
                <a:solidFill>
                  <a:srgbClr val="666666"/>
                </a:solidFill>
                <a:latin typeface="맑은 고딕"/>
              </a:defRPr>
            </a:pPr>
            <a:r>
              <a:t>글로벌 파워팀의 철학을 디지털 툴킷으로 발전:</a:t>
            </a:r>
          </a:p>
          <a:p>
            <a:pPr algn="l">
              <a:defRPr sz="600" b="0">
                <a:solidFill>
                  <a:srgbClr val="1A1A2E"/>
                </a:solidFill>
                <a:latin typeface="맑은 고딕"/>
              </a:defRPr>
            </a:pPr>
          </a:p>
          <a:p>
            <a:pPr algn="l">
              <a:defRPr sz="1400" b="1">
                <a:solidFill>
                  <a:srgbClr val="1A1A2E"/>
                </a:solidFill>
                <a:latin typeface="맑은 고딕"/>
              </a:defRPr>
            </a:pPr>
            <a:r>
              <a:t>1단계  비즈니스 협업 역량진단 (10분)</a:t>
            </a:r>
          </a:p>
          <a:p>
            <a:pPr algn="l">
              <a:defRPr sz="1400" b="1">
                <a:solidFill>
                  <a:srgbClr val="1A1A2E"/>
                </a:solidFill>
                <a:latin typeface="맑은 고딕"/>
              </a:defRPr>
            </a:pPr>
            <a:r>
              <a:t>2단계  핵심 고객 프로필 매핑 (5분)</a:t>
            </a:r>
          </a:p>
          <a:p>
            <a:pPr algn="l">
              <a:defRPr sz="1400" b="1">
                <a:solidFill>
                  <a:srgbClr val="CC0000"/>
                </a:solidFill>
                <a:latin typeface="맑은 고딕"/>
              </a:defRPr>
            </a:pPr>
            <a:r>
              <a:t>3단계  RPS 리퍼럴 파트너 스코어보드 (실시간)</a:t>
            </a:r>
          </a:p>
          <a:p>
            <a:pPr algn="l">
              <a:defRPr sz="800" b="0">
                <a:solidFill>
                  <a:srgbClr val="1A1A2E"/>
                </a:solidFill>
                <a:latin typeface="맑은 고딕"/>
              </a:defRPr>
            </a:pPr>
          </a:p>
          <a:p>
            <a:pPr algn="ctr">
              <a:defRPr sz="1400" b="1">
                <a:solidFill>
                  <a:srgbClr val="CC0000"/>
                </a:solidFill>
                <a:latin typeface="맑은 고딕"/>
              </a:defRPr>
            </a:pPr>
            <a:r>
              <a:t>▶ 오늘의 주제 → 3단계 RPS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5212080"/>
            <a:ext cx="10881360" cy="548640"/>
          </a:xfrm>
          <a:prstGeom prst="round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400"/>
              </a:spcBef>
              <a:defRPr sz="1300" b="0">
                <a:solidFill>
                  <a:srgbClr val="FFFFFF"/>
                </a:solidFill>
                <a:latin typeface="맑은 고딕"/>
              </a:defRPr>
            </a:pPr>
            <a:r>
              <a:t>💡 글로벌 파워팀의 "의도적 리퍼럴" 철학을 데이터 기반으로 실현하는 도구 = RPS</a:t>
            </a:r>
          </a:p>
        </p:txBody>
      </p:sp>
      <p:sp>
        <p:nvSpPr>
          <p:cNvPr id="9" name="Rectangle 8"/>
          <p:cNvSpPr/>
          <p:nvPr/>
        </p:nvSpPr>
        <p:spPr>
          <a:xfrm>
            <a:off x="0" y="6766560"/>
            <a:ext cx="12191695" cy="9144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0" y="365760"/>
            <a:ext cx="12191695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CC0000"/>
                </a:solidFill>
                <a:latin typeface="맑은 고딕"/>
              </a:defRPr>
            </a:pPr>
            <a:r>
              <a:t>THE PROBLEM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0" y="731520"/>
            <a:ext cx="12191695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1">
                <a:solidFill>
                  <a:srgbClr val="1A1A2E"/>
                </a:solidFill>
                <a:latin typeface="맑은 고딕"/>
              </a:defRPr>
            </a:pPr>
            <a:r>
              <a:t>리퍼럴 파트너,</a:t>
            </a:r>
            <a:br/>
            <a:r>
              <a:t>어떻게 관리하고 계신가요?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2011680"/>
            <a:ext cx="4754880" cy="3657600"/>
          </a:xfrm>
          <a:prstGeom prst="round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2200" b="1">
                <a:solidFill>
                  <a:srgbClr val="1A1A2E"/>
                </a:solidFill>
                <a:latin typeface="맑은 고딕"/>
              </a:defRPr>
            </a:pPr>
            <a:r>
              <a:t>😰 지금의 현실</a:t>
            </a:r>
          </a:p>
          <a:p>
            <a:pPr algn="ctr">
              <a:defRPr sz="1100" b="0">
                <a:solidFill>
                  <a:srgbClr val="999999"/>
                </a:solidFill>
                <a:latin typeface="맑은 고딕"/>
              </a:defRPr>
            </a:pPr>
            <a:r>
              <a:t>"Leads are Random"</a:t>
            </a:r>
          </a:p>
          <a:p>
            <a:pPr algn="l">
              <a:defRPr sz="800" b="0">
                <a:solidFill>
                  <a:srgbClr val="1A1A2E"/>
                </a:solidFill>
                <a:latin typeface="맑은 고딕"/>
              </a:defRPr>
            </a:pPr>
          </a:p>
          <a:p>
            <a:pPr algn="l">
              <a:spcBef>
                <a:spcPts val="800"/>
              </a:spcBef>
              <a:defRPr sz="1500" b="0">
                <a:solidFill>
                  <a:srgbClr val="999999"/>
                </a:solidFill>
                <a:latin typeface="맑은 고딕"/>
              </a:defRPr>
            </a:pPr>
            <a:r>
              <a:t>❌ 누구와 어떤 단계인지 기억이...</a:t>
            </a:r>
          </a:p>
          <a:p>
            <a:pPr algn="l">
              <a:spcBef>
                <a:spcPts val="800"/>
              </a:spcBef>
              <a:defRPr sz="1500" b="0">
                <a:solidFill>
                  <a:srgbClr val="999999"/>
                </a:solidFill>
                <a:latin typeface="맑은 고딕"/>
              </a:defRPr>
            </a:pPr>
            <a:r>
              <a:t>❌ 엑셀? 메모장? 머릿속?</a:t>
            </a:r>
          </a:p>
          <a:p>
            <a:pPr algn="l">
              <a:spcBef>
                <a:spcPts val="800"/>
              </a:spcBef>
              <a:defRPr sz="1500" b="0">
                <a:solidFill>
                  <a:srgbClr val="999999"/>
                </a:solidFill>
                <a:latin typeface="맑은 고딕"/>
              </a:defRPr>
            </a:pPr>
            <a:r>
              <a:t>❌ 챕터 RPI가 왜 낮은지 모름</a:t>
            </a:r>
          </a:p>
          <a:p>
            <a:pPr algn="l">
              <a:spcBef>
                <a:spcPts val="800"/>
              </a:spcBef>
              <a:defRPr sz="1500" b="0">
                <a:solidFill>
                  <a:srgbClr val="999999"/>
                </a:solidFill>
                <a:latin typeface="맑은 고딕"/>
              </a:defRPr>
            </a:pPr>
            <a:r>
              <a:t>❌ 파트너십 전략? 감으로 한다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577840" y="3200400"/>
            <a:ext cx="10058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000" b="1">
                <a:solidFill>
                  <a:srgbClr val="1A1A2E"/>
                </a:solidFill>
                <a:latin typeface="맑은 고딕"/>
              </a:defRPr>
            </a:pPr>
            <a:r>
              <a:t>→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675120" y="2011680"/>
            <a:ext cx="4754880" cy="3657600"/>
          </a:xfrm>
          <a:prstGeom prst="roundRect">
            <a:avLst/>
          </a:prstGeom>
          <a:solidFill>
            <a:srgbClr val="FFFFFF"/>
          </a:solidFill>
          <a:ln w="38100">
            <a:solidFill>
              <a:srgbClr val="CC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2200" b="1">
                <a:solidFill>
                  <a:srgbClr val="CC0000"/>
                </a:solidFill>
                <a:latin typeface="맑은 고딕"/>
              </a:defRPr>
            </a:pPr>
            <a:r>
              <a:t>🎯 RPS가 해결합니다</a:t>
            </a:r>
          </a:p>
          <a:p>
            <a:pPr algn="ctr">
              <a:defRPr sz="1100" b="0">
                <a:solidFill>
                  <a:srgbClr val="999999"/>
                </a:solidFill>
                <a:latin typeface="맑은 고딕"/>
              </a:defRPr>
            </a:pPr>
            <a:r>
              <a:t>"Referrals are Intentional"</a:t>
            </a:r>
          </a:p>
          <a:p>
            <a:pPr algn="l">
              <a:defRPr sz="800" b="0">
                <a:solidFill>
                  <a:srgbClr val="1A1A2E"/>
                </a:solidFill>
                <a:latin typeface="맑은 고딕"/>
              </a:defRPr>
            </a:pPr>
          </a:p>
          <a:p>
            <a:pPr algn="l">
              <a:spcBef>
                <a:spcPts val="800"/>
              </a:spcBef>
              <a:defRPr sz="1500" b="1">
                <a:solidFill>
                  <a:srgbClr val="1A1A2E"/>
                </a:solidFill>
                <a:latin typeface="맑은 고딕"/>
              </a:defRPr>
            </a:pPr>
            <a:r>
              <a:t>✅ 파트너별 VCR 단계 한눈에</a:t>
            </a:r>
          </a:p>
          <a:p>
            <a:pPr algn="l">
              <a:spcBef>
                <a:spcPts val="800"/>
              </a:spcBef>
              <a:defRPr sz="1500" b="1">
                <a:solidFill>
                  <a:srgbClr val="1A1A2E"/>
                </a:solidFill>
                <a:latin typeface="맑은 고딕"/>
              </a:defRPr>
            </a:pPr>
            <a:r>
              <a:t>✅ 웹 기반 실시간 자동 관리</a:t>
            </a:r>
          </a:p>
          <a:p>
            <a:pPr algn="l">
              <a:spcBef>
                <a:spcPts val="800"/>
              </a:spcBef>
              <a:defRPr sz="1500" b="1">
                <a:solidFill>
                  <a:srgbClr val="1A1A2E"/>
                </a:solidFill>
                <a:latin typeface="맑은 고딕"/>
              </a:defRPr>
            </a:pPr>
            <a:r>
              <a:t>✅ 챕터 RPI에 즉시 반영</a:t>
            </a:r>
          </a:p>
          <a:p>
            <a:pPr algn="l">
              <a:spcBef>
                <a:spcPts val="800"/>
              </a:spcBef>
              <a:defRPr sz="1500" b="1">
                <a:solidFill>
                  <a:srgbClr val="1A1A2E"/>
                </a:solidFill>
                <a:latin typeface="맑은 고딕"/>
              </a:defRPr>
            </a:pPr>
            <a:r>
              <a:t>✅ 전국 85개 챕터 비교 분석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766560"/>
            <a:ext cx="12191695" cy="9144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65760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CC0000"/>
                </a:solidFill>
                <a:latin typeface="맑은 고딕"/>
              </a:defRPr>
            </a:pPr>
            <a:r>
              <a:t>CORE CONCEPT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1A1A2E"/>
                </a:solidFill>
                <a:latin typeface="맑은 고딕"/>
              </a:defRPr>
            </a:pPr>
            <a:r>
              <a:t>RPS의 핵심: V → C → P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188720"/>
            <a:ext cx="1097280" cy="54864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37160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999999"/>
                </a:solidFill>
                <a:latin typeface="맑은 고딕"/>
              </a:defRPr>
            </a:pPr>
            <a:r>
              <a:t>글로벌 파워팀이 검증한 리퍼럴 파트너십의 3단계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920240"/>
            <a:ext cx="3474720" cy="27432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2200" b="1">
                <a:solidFill>
                  <a:srgbClr val="1A1A2E"/>
                </a:solidFill>
                <a:latin typeface="맑은 고딕"/>
              </a:defRPr>
            </a:pPr>
            <a:r>
              <a:t>👁️ Visibility</a:t>
            </a:r>
          </a:p>
          <a:p>
            <a:pPr algn="ctr">
              <a:defRPr sz="1400" b="0">
                <a:solidFill>
                  <a:srgbClr val="999999"/>
                </a:solidFill>
                <a:latin typeface="맑은 고딕"/>
              </a:defRPr>
            </a:pPr>
            <a:r>
              <a:t>가시성</a:t>
            </a:r>
          </a:p>
          <a:p>
            <a:pPr algn="l">
              <a:defRPr sz="800" b="0">
                <a:solidFill>
                  <a:srgbClr val="1A1A2E"/>
                </a:solidFill>
                <a:latin typeface="맑은 고딕"/>
              </a:defRPr>
            </a:pPr>
          </a:p>
          <a:p>
            <a:pPr algn="ctr">
              <a:defRPr sz="1300" b="0">
                <a:solidFill>
                  <a:srgbClr val="666666"/>
                </a:solidFill>
                <a:latin typeface="맑은 고딕"/>
              </a:defRPr>
            </a:pPr>
            <a:r>
              <a:t>"이 분이 무엇을 하시는지 알아요"</a:t>
            </a:r>
          </a:p>
        </p:txBody>
      </p:sp>
      <p:sp>
        <p:nvSpPr>
          <p:cNvPr id="7" name="Rectangle 6"/>
          <p:cNvSpPr/>
          <p:nvPr/>
        </p:nvSpPr>
        <p:spPr>
          <a:xfrm>
            <a:off x="731520" y="1920240"/>
            <a:ext cx="3474720" cy="73152"/>
          </a:xfrm>
          <a:prstGeom prst="rect">
            <a:avLst/>
          </a:prstGeom>
          <a:solidFill>
            <a:srgbClr val="00B89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4572000" y="1920240"/>
            <a:ext cx="3474720" cy="27432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2200" b="1">
                <a:solidFill>
                  <a:srgbClr val="1A1A2E"/>
                </a:solidFill>
                <a:latin typeface="맑은 고딕"/>
              </a:defRPr>
            </a:pPr>
            <a:r>
              <a:t>🤝 Credibility</a:t>
            </a:r>
          </a:p>
          <a:p>
            <a:pPr algn="ctr">
              <a:defRPr sz="1400" b="0">
                <a:solidFill>
                  <a:srgbClr val="999999"/>
                </a:solidFill>
                <a:latin typeface="맑은 고딕"/>
              </a:defRPr>
            </a:pPr>
            <a:r>
              <a:t>신뢰성</a:t>
            </a:r>
          </a:p>
          <a:p>
            <a:pPr algn="l">
              <a:defRPr sz="800" b="0">
                <a:solidFill>
                  <a:srgbClr val="1A1A2E"/>
                </a:solidFill>
                <a:latin typeface="맑은 고딕"/>
              </a:defRPr>
            </a:pPr>
          </a:p>
          <a:p>
            <a:pPr algn="ctr">
              <a:defRPr sz="1300" b="0">
                <a:solidFill>
                  <a:srgbClr val="666666"/>
                </a:solidFill>
                <a:latin typeface="맑은 고딕"/>
              </a:defRPr>
            </a:pPr>
            <a:r>
              <a:t>"이 분을 믿고 추천할 수 있어요"</a:t>
            </a:r>
          </a:p>
        </p:txBody>
      </p:sp>
      <p:sp>
        <p:nvSpPr>
          <p:cNvPr id="9" name="Rectangle 8"/>
          <p:cNvSpPr/>
          <p:nvPr/>
        </p:nvSpPr>
        <p:spPr>
          <a:xfrm>
            <a:off x="4572000" y="1920240"/>
            <a:ext cx="3474720" cy="73152"/>
          </a:xfrm>
          <a:prstGeom prst="rect">
            <a:avLst/>
          </a:prstGeom>
          <a:solidFill>
            <a:srgbClr val="F39C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8412480" y="1920240"/>
            <a:ext cx="3474720" cy="2743200"/>
          </a:xfrm>
          <a:prstGeom prst="round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2200" b="1">
                <a:solidFill>
                  <a:srgbClr val="FFFFFF"/>
                </a:solidFill>
                <a:latin typeface="맑은 고딕"/>
              </a:defRPr>
            </a:pPr>
            <a:r>
              <a:t>💰 Profitability</a:t>
            </a:r>
          </a:p>
          <a:p>
            <a:pPr algn="ctr">
              <a:defRPr sz="1400" b="0">
                <a:solidFill>
                  <a:srgbClr val="FFCCCC"/>
                </a:solidFill>
                <a:latin typeface="맑은 고딕"/>
              </a:defRPr>
            </a:pPr>
            <a:r>
              <a:t>수익 발생</a:t>
            </a:r>
          </a:p>
          <a:p>
            <a:pPr algn="l">
              <a:defRPr sz="800" b="0">
                <a:solidFill>
                  <a:srgbClr val="1A1A2E"/>
                </a:solidFill>
                <a:latin typeface="맑은 고딕"/>
              </a:defRPr>
            </a:pPr>
          </a:p>
          <a:p>
            <a:pPr algn="ctr">
              <a:defRPr sz="1300" b="0">
                <a:solidFill>
                  <a:srgbClr val="FFFFFF"/>
                </a:solidFill>
                <a:latin typeface="맑은 고딕"/>
              </a:defRPr>
            </a:pPr>
            <a:r>
              <a:t>"실제 비즈니스가 오가고 있어요!"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31520" y="4937760"/>
            <a:ext cx="10698480" cy="640080"/>
          </a:xfrm>
          <a:prstGeom prst="roundRect">
            <a:avLst/>
          </a:prstGeom>
          <a:solidFill>
            <a:srgbClr val="FFF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spcBef>
                <a:spcPts val="400"/>
              </a:spcBef>
              <a:defRPr sz="1300" b="0">
                <a:solidFill>
                  <a:srgbClr val="1A1A2E"/>
                </a:solidFill>
                <a:latin typeface="맑은 고딕"/>
              </a:defRPr>
            </a:pPr>
            <a:r>
              <a:t>핵심 공식: RPS에서 '수익 단계(P)' 체크 횟수가 곧 RPI 점수에 반영됩니다. P 체크 ↑ → RPI ↑ → 챕터 건강도 UP</a:t>
            </a:r>
          </a:p>
        </p:txBody>
      </p:sp>
      <p:sp>
        <p:nvSpPr>
          <p:cNvPr id="12" name="Rectangle 11"/>
          <p:cNvSpPr/>
          <p:nvPr/>
        </p:nvSpPr>
        <p:spPr>
          <a:xfrm>
            <a:off x="0" y="6766560"/>
            <a:ext cx="12191695" cy="9144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65760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CC0000"/>
                </a:solidFill>
                <a:latin typeface="맑은 고딕"/>
              </a:defRPr>
            </a:pPr>
            <a:r>
              <a:t>HOW TO USE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1A1A2E"/>
                </a:solidFill>
                <a:latin typeface="맑은 고딕"/>
              </a:defRPr>
            </a:pPr>
            <a:r>
              <a:t>3분이면 끝. 정말 간단합니다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188720"/>
            <a:ext cx="1097280" cy="54864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스크린샷_2026-02-27_154050-removebg-preview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554480"/>
            <a:ext cx="5872480" cy="4389120"/>
          </a:xfrm>
          <a:prstGeom prst="rect">
            <a:avLst/>
          </a:prstGeom>
        </p:spPr>
      </p:pic>
      <p:sp>
        <p:nvSpPr>
          <p:cNvPr id="6" name="Oval 5"/>
          <p:cNvSpPr/>
          <p:nvPr/>
        </p:nvSpPr>
        <p:spPr>
          <a:xfrm>
            <a:off x="5943600" y="1645920"/>
            <a:ext cx="594360" cy="594360"/>
          </a:xfrm>
          <a:prstGeom prst="ellipse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2200" b="1">
                <a:solidFill>
                  <a:srgbClr val="FFFFFF"/>
                </a:solidFill>
                <a:latin typeface="맑은 고딕"/>
              </a:defRPr>
            </a:pPr>
            <a: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766560" y="164592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1A1A2E"/>
                </a:solidFill>
                <a:latin typeface="맑은 고딕"/>
              </a:defRPr>
            </a:pPr>
            <a:r>
              <a:t>접속 &amp; 로그인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766560" y="2057400"/>
            <a:ext cx="4572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999999"/>
                </a:solidFill>
                <a:latin typeface="맑은 고딕"/>
              </a:defRPr>
            </a:pPr>
            <a:r>
              <a:t>rps-bnikorea.com 접속</a:t>
            </a:r>
            <a:br/>
            <a:r>
              <a:t>BNI Connect 이메일 + 4자리 비밀번호</a:t>
            </a:r>
          </a:p>
        </p:txBody>
      </p:sp>
      <p:sp>
        <p:nvSpPr>
          <p:cNvPr id="9" name="Oval 8"/>
          <p:cNvSpPr/>
          <p:nvPr/>
        </p:nvSpPr>
        <p:spPr>
          <a:xfrm>
            <a:off x="5943600" y="3017520"/>
            <a:ext cx="594360" cy="594360"/>
          </a:xfrm>
          <a:prstGeom prst="ellipse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2200" b="1">
                <a:solidFill>
                  <a:srgbClr val="FFFFFF"/>
                </a:solidFill>
                <a:latin typeface="맑은 고딕"/>
              </a:defRPr>
            </a:pPr>
            <a:r>
              <a:t>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766560" y="301752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1A1A2E"/>
                </a:solidFill>
                <a:latin typeface="맑은 고딕"/>
              </a:defRPr>
            </a:pPr>
            <a:r>
              <a:t>파트너별 VCR 단계 선택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766560" y="3429000"/>
            <a:ext cx="4572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999999"/>
                </a:solidFill>
                <a:latin typeface="맑은 고딕"/>
              </a:defRPr>
            </a:pPr>
            <a:r>
              <a:t>각 파트너와의 관계 단계를 선택하고</a:t>
            </a:r>
            <a:br/>
            <a:r>
              <a:t>'수익 단계' 반드시 체크!</a:t>
            </a:r>
          </a:p>
        </p:txBody>
      </p:sp>
      <p:sp>
        <p:nvSpPr>
          <p:cNvPr id="12" name="Oval 11"/>
          <p:cNvSpPr/>
          <p:nvPr/>
        </p:nvSpPr>
        <p:spPr>
          <a:xfrm>
            <a:off x="5943600" y="4389120"/>
            <a:ext cx="594360" cy="594360"/>
          </a:xfrm>
          <a:prstGeom prst="ellipse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2200" b="1">
                <a:solidFill>
                  <a:srgbClr val="FFFFFF"/>
                </a:solidFill>
                <a:latin typeface="맑은 고딕"/>
              </a:defRPr>
            </a:pPr>
            <a:r>
              <a:t>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766560" y="438912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1A1A2E"/>
                </a:solidFill>
                <a:latin typeface="맑은 고딕"/>
              </a:defRPr>
            </a:pPr>
            <a:r>
              <a:t>제출 — 끝!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766560" y="4800600"/>
            <a:ext cx="4572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999999"/>
                </a:solidFill>
                <a:latin typeface="맑은 고딕"/>
              </a:defRPr>
            </a:pPr>
            <a:r>
              <a:t>버튼 한 번이면 완료</a:t>
            </a:r>
            <a:br/>
            <a:r>
              <a:t>챕터 RPI에 즉시 반영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943600" y="5303520"/>
            <a:ext cx="5486400" cy="594360"/>
          </a:xfrm>
          <a:prstGeom prst="round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400"/>
              </a:spcBef>
              <a:defRPr sz="1600" b="1">
                <a:solidFill>
                  <a:srgbClr val="FFFFFF"/>
                </a:solidFill>
                <a:latin typeface="맑은 고딕"/>
              </a:defRPr>
            </a:pPr>
            <a:r>
              <a:t>⏱️ 매주 3분 투자 → 챕터 성장의 시작</a:t>
            </a:r>
          </a:p>
        </p:txBody>
      </p:sp>
      <p:sp>
        <p:nvSpPr>
          <p:cNvPr id="16" name="Rectangle 15"/>
          <p:cNvSpPr/>
          <p:nvPr/>
        </p:nvSpPr>
        <p:spPr>
          <a:xfrm>
            <a:off x="0" y="6766560"/>
            <a:ext cx="12191695" cy="9144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65760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CC0000"/>
                </a:solidFill>
                <a:latin typeface="맑은 고딕"/>
              </a:defRPr>
            </a:pPr>
            <a:r>
              <a:t>RPS DASHBOARD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1A1A2E"/>
                </a:solidFill>
                <a:latin typeface="맑은 고딕"/>
              </a:defRPr>
            </a:pPr>
            <a:r>
              <a:t>숫자로 보는 우리 챕터의 위치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188720"/>
            <a:ext cx="1097280" cy="54864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46304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1A1A2E"/>
                </a:solidFill>
                <a:latin typeface="맑은 고딕"/>
              </a:defRPr>
            </a:pPr>
            <a:r>
              <a:t>📊 전국 17개 지역 RPI 현황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731520" y="1920240"/>
          <a:ext cx="5029200" cy="2743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76400"/>
                <a:gridCol w="1676400"/>
                <a:gridCol w="1676400"/>
              </a:tblGrid>
              <a:tr h="457200"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FFFFFF"/>
                          </a:solidFill>
                          <a:latin typeface="맑은 고딕"/>
                        </a:defRPr>
                      </a:pPr>
                      <a:r>
                        <a:t>지역</a:t>
                      </a:r>
                    </a:p>
                  </a:txBody>
                  <a:tcPr>
                    <a:solidFill>
                      <a:srgbClr val="CC000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FFFFFF"/>
                          </a:solidFill>
                          <a:latin typeface="맑은 고딕"/>
                        </a:defRPr>
                      </a:pPr>
                      <a:r>
                        <a:t>RPI</a:t>
                      </a:r>
                    </a:p>
                  </a:txBody>
                  <a:tcPr>
                    <a:solidFill>
                      <a:srgbClr val="CC000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FFFFFF"/>
                          </a:solidFill>
                          <a:latin typeface="맑은 고딕"/>
                        </a:defRPr>
                      </a:pPr>
                      <a:r>
                        <a:t>참가율</a:t>
                      </a:r>
                    </a:p>
                  </a:txBody>
                  <a:tcPr>
                    <a:solidFill>
                      <a:srgbClr val="CC0000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1A1A2E"/>
                          </a:solidFill>
                          <a:latin typeface="맑은 고딕"/>
                        </a:defRPr>
                      </a:pPr>
                      <a:r>
                        <a:t>Busan 부산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1A1A2E"/>
                          </a:solidFill>
                          <a:latin typeface="맑은 고딕"/>
                        </a:defRPr>
                      </a:pPr>
                      <a:r>
                        <a:t>0.74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1A1A2E"/>
                          </a:solidFill>
                          <a:latin typeface="맑은 고딕"/>
                        </a:defRPr>
                      </a:pPr>
                      <a:r>
                        <a:t>98.9%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1A1A2E"/>
                          </a:solidFill>
                          <a:latin typeface="맑은 고딕"/>
                        </a:defRPr>
                      </a:pPr>
                      <a:r>
                        <a:t>Seocho 서초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1A1A2E"/>
                          </a:solidFill>
                          <a:latin typeface="맑은 고딕"/>
                        </a:defRPr>
                      </a:pPr>
                      <a:r>
                        <a:t>0.91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1A1A2E"/>
                          </a:solidFill>
                          <a:latin typeface="맑은 고딕"/>
                        </a:defRPr>
                      </a:pPr>
                      <a:r>
                        <a:t>85.6%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1A1A2E"/>
                          </a:solidFill>
                          <a:latin typeface="맑은 고딕"/>
                        </a:defRPr>
                      </a:pPr>
                      <a:r>
                        <a:t>Goyang 고양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1A1A2E"/>
                          </a:solidFill>
                          <a:latin typeface="맑은 고딕"/>
                        </a:defRPr>
                      </a:pPr>
                      <a:r>
                        <a:t>0.32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1A1A2E"/>
                          </a:solidFill>
                          <a:latin typeface="맑은 고딕"/>
                        </a:defRPr>
                      </a:pPr>
                      <a:r>
                        <a:t>91.5%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1A1A2E"/>
                          </a:solidFill>
                          <a:latin typeface="맑은 고딕"/>
                        </a:defRPr>
                      </a:pPr>
                      <a:r>
                        <a:t>Songpa 송파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1A1A2E"/>
                          </a:solidFill>
                          <a:latin typeface="맑은 고딕"/>
                        </a:defRPr>
                      </a:pPr>
                      <a:r>
                        <a:t>0.86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1A1A2E"/>
                          </a:solidFill>
                          <a:latin typeface="맑은 고딕"/>
                        </a:defRPr>
                      </a:pPr>
                      <a:r>
                        <a:t>53.9%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CC0000"/>
                          </a:solidFill>
                          <a:latin typeface="맑은 고딕"/>
                        </a:defRPr>
                      </a:pPr>
                      <a:r>
                        <a:t>BNI Korea 전체</a:t>
                      </a:r>
                    </a:p>
                  </a:txBody>
                  <a:tcPr>
                    <a:solidFill>
                      <a:srgbClr val="FFF0F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CC0000"/>
                          </a:solidFill>
                          <a:latin typeface="맑은 고딕"/>
                        </a:defRPr>
                      </a:pPr>
                      <a:r>
                        <a:t>0.62</a:t>
                      </a:r>
                    </a:p>
                  </a:txBody>
                  <a:tcPr>
                    <a:solidFill>
                      <a:srgbClr val="FFF0F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CC0000"/>
                          </a:solidFill>
                          <a:latin typeface="맑은 고딕"/>
                        </a:defRPr>
                      </a:pPr>
                      <a:r>
                        <a:t>71.0%</a:t>
                      </a:r>
                    </a:p>
                  </a:txBody>
                  <a:tcPr>
                    <a:solidFill>
                      <a:srgbClr val="FFF0F0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6400800" y="146304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1A1A2E"/>
                </a:solidFill>
                <a:latin typeface="맑은 고딕"/>
              </a:defRPr>
            </a:pPr>
            <a:r>
              <a:t>🏆 챕터 RPI TOP 5 vs BOTTOM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6400800" y="1920240"/>
          <a:ext cx="5029200" cy="2743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76400"/>
                <a:gridCol w="1676400"/>
                <a:gridCol w="1676400"/>
              </a:tblGrid>
              <a:tr h="457200"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FFFFFF"/>
                          </a:solidFill>
                          <a:latin typeface="맑은 고딕"/>
                        </a:defRPr>
                      </a:pPr>
                      <a:r>
                        <a:t>챕터</a:t>
                      </a:r>
                    </a:p>
                  </a:txBody>
                  <a:tcPr>
                    <a:solidFill>
                      <a:srgbClr val="CC000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FFFFFF"/>
                          </a:solidFill>
                          <a:latin typeface="맑은 고딕"/>
                        </a:defRPr>
                      </a:pPr>
                      <a:r>
                        <a:t>RPI</a:t>
                      </a:r>
                    </a:p>
                  </a:txBody>
                  <a:tcPr>
                    <a:solidFill>
                      <a:srgbClr val="CC000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FFFFFF"/>
                          </a:solidFill>
                          <a:latin typeface="맑은 고딕"/>
                        </a:defRPr>
                      </a:pPr>
                      <a:r>
                        <a:t>참가율</a:t>
                      </a:r>
                    </a:p>
                  </a:txBody>
                  <a:tcPr>
                    <a:solidFill>
                      <a:srgbClr val="CC0000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1A1A2E"/>
                          </a:solidFill>
                          <a:latin typeface="맑은 고딕"/>
                        </a:defRPr>
                      </a:pPr>
                      <a:r>
                        <a:t>🥇 Smart</a:t>
                      </a:r>
                    </a:p>
                  </a:txBody>
                  <a:tcPr>
                    <a:solidFill>
                      <a:srgbClr val="FFF0F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CC0000"/>
                          </a:solidFill>
                          <a:latin typeface="맑은 고딕"/>
                        </a:defRPr>
                      </a:pPr>
                      <a:r>
                        <a:t>2.63</a:t>
                      </a:r>
                    </a:p>
                  </a:txBody>
                  <a:tcPr>
                    <a:solidFill>
                      <a:srgbClr val="FFF0F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1A1A2E"/>
                          </a:solidFill>
                          <a:latin typeface="맑은 고딕"/>
                        </a:defRPr>
                      </a:pPr>
                      <a:r>
                        <a:t>89.3%</a:t>
                      </a:r>
                    </a:p>
                  </a:txBody>
                  <a:tcPr>
                    <a:solidFill>
                      <a:srgbClr val="FFF0F0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1A1A2E"/>
                          </a:solidFill>
                          <a:latin typeface="맑은 고딕"/>
                        </a:defRPr>
                      </a:pPr>
                      <a:r>
                        <a:t>🥈 Synergy</a:t>
                      </a:r>
                    </a:p>
                  </a:txBody>
                  <a:tcPr>
                    <a:solidFill>
                      <a:srgbClr val="FFF0F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CC0000"/>
                          </a:solidFill>
                          <a:latin typeface="맑은 고딕"/>
                        </a:defRPr>
                      </a:pPr>
                      <a:r>
                        <a:t>2.35</a:t>
                      </a:r>
                    </a:p>
                  </a:txBody>
                  <a:tcPr>
                    <a:solidFill>
                      <a:srgbClr val="FFF0F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1A1A2E"/>
                          </a:solidFill>
                          <a:latin typeface="맑은 고딕"/>
                        </a:defRPr>
                      </a:pPr>
                      <a:r>
                        <a:t>98.7%</a:t>
                      </a:r>
                    </a:p>
                  </a:txBody>
                  <a:tcPr>
                    <a:solidFill>
                      <a:srgbClr val="FFF0F0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1A1A2E"/>
                          </a:solidFill>
                          <a:latin typeface="맑은 고딕"/>
                        </a:defRPr>
                      </a:pPr>
                      <a:r>
                        <a:t>🥉 Winners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1A1A2E"/>
                          </a:solidFill>
                          <a:latin typeface="맑은 고딕"/>
                        </a:defRPr>
                      </a:pPr>
                      <a:r>
                        <a:t>1.42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1A1A2E"/>
                          </a:solidFill>
                          <a:latin typeface="맑은 고딕"/>
                        </a:defRPr>
                      </a:pPr>
                      <a:r>
                        <a:t>94.4%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999999"/>
                          </a:solidFill>
                          <a:latin typeface="맑은 고딕"/>
                        </a:defRPr>
                      </a:pPr>
                      <a:r>
                        <a:t>GROW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999999"/>
                          </a:solidFill>
                          <a:latin typeface="맑은 고딕"/>
                        </a:defRPr>
                      </a:pPr>
                      <a:r>
                        <a:t>0.00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999999"/>
                          </a:solidFill>
                          <a:latin typeface="맑은 고딕"/>
                        </a:defRPr>
                      </a:pPr>
                      <a:r>
                        <a:t>30.0%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999999"/>
                          </a:solidFill>
                          <a:latin typeface="맑은 고딕"/>
                        </a:defRPr>
                      </a:pPr>
                      <a:r>
                        <a:t>Stoneworks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999999"/>
                          </a:solidFill>
                          <a:latin typeface="맑은 고딕"/>
                        </a:defRPr>
                      </a:pPr>
                      <a:r>
                        <a:t>0.00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999999"/>
                          </a:solidFill>
                          <a:latin typeface="맑은 고딕"/>
                        </a:defRPr>
                      </a:pPr>
                      <a:r>
                        <a:t>19.0%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6400800" y="475488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CC0000"/>
                </a:solidFill>
                <a:latin typeface="맑은 고딕"/>
              </a:defRPr>
            </a:pPr>
            <a:r>
              <a:t>💡 RPI 0.00 챕터 vs 2.63 챕터 = 참가율 70%p 차이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5212080"/>
            <a:ext cx="10698480" cy="548640"/>
          </a:xfrm>
          <a:prstGeom prst="round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400"/>
              </a:spcBef>
              <a:defRPr sz="1200" b="0">
                <a:solidFill>
                  <a:srgbClr val="FFFFFF"/>
                </a:solidFill>
                <a:latin typeface="맑은 고딕"/>
              </a:defRPr>
            </a:pPr>
            <a:r>
              <a:t>📊 전국 17개 지역 · 85개 챕터의 RPI &amp; 참가율을 실시간 비교 → 우리 챕터의 위치를 객관적으로 파악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766560"/>
            <a:ext cx="12191695" cy="9144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65760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CC0000"/>
                </a:solidFill>
                <a:latin typeface="맑은 고딕"/>
              </a:defRPr>
            </a:pPr>
            <a:r>
              <a:t>STATISTICAL EVIDENCE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1A1A2E"/>
                </a:solidFill>
                <a:latin typeface="맑은 고딕"/>
              </a:defRPr>
            </a:pPr>
            <a:r>
              <a:t>데이터가 증명합니다: RPI의 힘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188720"/>
            <a:ext cx="1097280" cy="54864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371600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999999"/>
                </a:solidFill>
                <a:latin typeface="맑은 고딕"/>
              </a:defRPr>
            </a:pPr>
            <a:r>
              <a:t>BNI Korea 85개 챕터 분석  |  4개 지표 모두 p &lt; 0.05 통계적 유의미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920240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1A1A2E"/>
                </a:solidFill>
                <a:latin typeface="맑은 고딕"/>
              </a:defRPr>
            </a:pPr>
            <a:r>
              <a:t>👥 참가율 (Participation)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0" y="1920240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>
                <a:solidFill>
                  <a:srgbClr val="00B894"/>
                </a:solidFill>
                <a:latin typeface="맑은 고딕"/>
              </a:defRPr>
            </a:pPr>
            <a:r>
              <a:t>+0.602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412480" y="192024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999999"/>
                </a:solidFill>
                <a:latin typeface="맑은 고딕"/>
              </a:defRPr>
            </a:pPr>
            <a:r>
              <a:t>p &lt; 0.001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875520" y="192024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CC0000"/>
                </a:solidFill>
                <a:latin typeface="맑은 고딕"/>
              </a:defRPr>
            </a:pPr>
            <a:r>
              <a:t>강한 긍정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2286000"/>
            <a:ext cx="10515600" cy="201168"/>
          </a:xfrm>
          <a:prstGeom prst="roundRect">
            <a:avLst/>
          </a:prstGeom>
          <a:solidFill>
            <a:srgbClr val="E0E0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731520" y="2286000"/>
            <a:ext cx="6330391" cy="201168"/>
          </a:xfrm>
          <a:prstGeom prst="roundRect">
            <a:avLst/>
          </a:prstGeom>
          <a:solidFill>
            <a:srgbClr val="00B89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31520" y="2834640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1A1A2E"/>
                </a:solidFill>
                <a:latin typeface="맑은 고딕"/>
              </a:defRPr>
            </a:pPr>
            <a:r>
              <a:t>📐 챕터 규모 (Size)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0" y="2834640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>
                <a:solidFill>
                  <a:srgbClr val="00B894"/>
                </a:solidFill>
                <a:latin typeface="맑은 고딕"/>
              </a:defRPr>
            </a:pPr>
            <a:r>
              <a:t>+0.355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412480" y="283464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999999"/>
                </a:solidFill>
                <a:latin typeface="맑은 고딕"/>
              </a:defRPr>
            </a:pPr>
            <a:r>
              <a:t>p = 0.001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875520" y="283464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CC0000"/>
                </a:solidFill>
                <a:latin typeface="맑은 고딕"/>
              </a:defRPr>
            </a:pPr>
            <a:r>
              <a:t>중간 긍정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31520" y="3200400"/>
            <a:ext cx="10515600" cy="201168"/>
          </a:xfrm>
          <a:prstGeom prst="roundRect">
            <a:avLst/>
          </a:prstGeom>
          <a:solidFill>
            <a:srgbClr val="E0E0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731520" y="3200400"/>
            <a:ext cx="3733037" cy="201168"/>
          </a:xfrm>
          <a:prstGeom prst="roundRect">
            <a:avLst/>
          </a:prstGeom>
          <a:solidFill>
            <a:srgbClr val="00B89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31520" y="3749039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1A1A2E"/>
                </a:solidFill>
                <a:latin typeface="맑은 고딕"/>
              </a:defRPr>
            </a:pPr>
            <a:r>
              <a:t>🔄 멤버 유지율 (Retention)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00800" y="3749039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>
                <a:solidFill>
                  <a:srgbClr val="00B894"/>
                </a:solidFill>
                <a:latin typeface="맑은 고딕"/>
              </a:defRPr>
            </a:pPr>
            <a:r>
              <a:t>+0.318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412480" y="3749039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999999"/>
                </a:solidFill>
                <a:latin typeface="맑은 고딕"/>
              </a:defRPr>
            </a:pPr>
            <a:r>
              <a:t>p = 0.004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875520" y="3749039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CC0000"/>
                </a:solidFill>
                <a:latin typeface="맑은 고딕"/>
              </a:defRPr>
            </a:pPr>
            <a:r>
              <a:t>중간 긍정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731520" y="4114800"/>
            <a:ext cx="10515600" cy="201168"/>
          </a:xfrm>
          <a:prstGeom prst="roundRect">
            <a:avLst/>
          </a:prstGeom>
          <a:solidFill>
            <a:srgbClr val="E0E0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731520" y="4114800"/>
            <a:ext cx="3343960" cy="201168"/>
          </a:xfrm>
          <a:prstGeom prst="roundRect">
            <a:avLst/>
          </a:prstGeom>
          <a:solidFill>
            <a:srgbClr val="00B89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31520" y="4663440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1A1A2E"/>
                </a:solidFill>
                <a:latin typeface="맑은 고딕"/>
              </a:defRPr>
            </a:pPr>
            <a:r>
              <a:t>🚪 방문자 활동 (Visitors)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00800" y="4663440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>
                <a:solidFill>
                  <a:srgbClr val="00B894"/>
                </a:solidFill>
                <a:latin typeface="맑은 고딕"/>
              </a:defRPr>
            </a:pPr>
            <a:r>
              <a:t>+0.231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412480" y="466344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999999"/>
                </a:solidFill>
                <a:latin typeface="맑은 고딕"/>
              </a:defRPr>
            </a:pPr>
            <a:r>
              <a:t>p = 0.039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875520" y="466344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CC0000"/>
                </a:solidFill>
                <a:latin typeface="맑은 고딕"/>
              </a:defRPr>
            </a:pPr>
            <a:r>
              <a:t>약한 긍정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731520" y="5029200"/>
            <a:ext cx="10515600" cy="201168"/>
          </a:xfrm>
          <a:prstGeom prst="roundRect">
            <a:avLst/>
          </a:prstGeom>
          <a:solidFill>
            <a:srgbClr val="E0E0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ounded Rectangle 28"/>
          <p:cNvSpPr/>
          <p:nvPr/>
        </p:nvSpPr>
        <p:spPr>
          <a:xfrm>
            <a:off x="731520" y="5029200"/>
            <a:ext cx="2429103" cy="201168"/>
          </a:xfrm>
          <a:prstGeom prst="roundRect">
            <a:avLst/>
          </a:prstGeom>
          <a:solidFill>
            <a:srgbClr val="00B89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731520" y="5669280"/>
            <a:ext cx="10515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999999"/>
                </a:solidFill>
                <a:latin typeface="맑은 고딕"/>
              </a:defRPr>
            </a:pPr>
            <a:r>
              <a:t>No Correlation (0)          Weak (+0.2)          Moderate (+0.4)          Strong (+0.6)          Perfect (+1.0)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731520" y="5943600"/>
            <a:ext cx="10698480" cy="502920"/>
          </a:xfrm>
          <a:prstGeom prst="roundRect">
            <a:avLst/>
          </a:prstGeom>
          <a:solidFill>
            <a:srgbClr val="00B89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400"/>
              </a:spcBef>
              <a:defRPr sz="1200" b="1">
                <a:solidFill>
                  <a:srgbClr val="FFFFFF"/>
                </a:solidFill>
                <a:latin typeface="맑은 고딕"/>
              </a:defRPr>
            </a:pPr>
            <a:r>
              <a:t>💡 결론: RPI는 챕터 건강도의 핵심 지표입니다. 4개 지표 모두 통계적으로 유의미한 긍정적 상관관계 확인</a:t>
            </a:r>
          </a:p>
        </p:txBody>
      </p:sp>
      <p:sp>
        <p:nvSpPr>
          <p:cNvPr id="32" name="Rectangle 31"/>
          <p:cNvSpPr/>
          <p:nvPr/>
        </p:nvSpPr>
        <p:spPr>
          <a:xfrm>
            <a:off x="0" y="6766560"/>
            <a:ext cx="12191695" cy="9144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0" y="274320"/>
            <a:ext cx="12191695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CC0000"/>
                </a:solidFill>
                <a:latin typeface="맑은 고딕"/>
              </a:defRPr>
            </a:pPr>
            <a:r>
              <a:t>DATA COMPARISON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0" y="548640"/>
            <a:ext cx="12191695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1">
                <a:solidFill>
                  <a:srgbClr val="1A1A2E"/>
                </a:solidFill>
                <a:latin typeface="맑은 고딕"/>
              </a:defRPr>
            </a:pPr>
            <a:r>
              <a:t>상위 25% vs 하위 25%: 숫자의 격차</a:t>
            </a:r>
          </a:p>
        </p:txBody>
      </p:sp>
      <p:sp>
        <p:nvSpPr>
          <p:cNvPr id="4" name="Rectangle 3"/>
          <p:cNvSpPr/>
          <p:nvPr/>
        </p:nvSpPr>
        <p:spPr>
          <a:xfrm>
            <a:off x="5577840" y="1097280"/>
            <a:ext cx="1097280" cy="54864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31520" y="1463040"/>
            <a:ext cx="5120640" cy="2377440"/>
          </a:xfrm>
          <a:prstGeom prst="roundRect">
            <a:avLst/>
          </a:prstGeom>
          <a:solidFill>
            <a:srgbClr val="F0F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600" b="1">
                <a:solidFill>
                  <a:srgbClr val="1A1A2E"/>
                </a:solidFill>
                <a:latin typeface="맑은 고딕"/>
              </a:defRPr>
            </a:pPr>
            <a:r>
              <a:t>📉 LOW RPI 챕터 (하위 25%)</a:t>
            </a:r>
          </a:p>
          <a:p>
            <a:pPr algn="l">
              <a:defRPr sz="1100" b="0">
                <a:solidFill>
                  <a:srgbClr val="999999"/>
                </a:solidFill>
                <a:latin typeface="맑은 고딕"/>
              </a:defRPr>
            </a:pPr>
            <a:r>
              <a:t>평균 RPI ≤ 0.22</a:t>
            </a:r>
          </a:p>
          <a:p>
            <a:pPr algn="l">
              <a:defRPr sz="600" b="0">
                <a:solidFill>
                  <a:srgbClr val="1A1A2E"/>
                </a:solidFill>
                <a:latin typeface="맑은 고딕"/>
              </a:defRPr>
            </a:pPr>
          </a:p>
          <a:p>
            <a:pPr algn="l">
              <a:defRPr sz="1500" b="1">
                <a:solidFill>
                  <a:srgbClr val="1A1A2E"/>
                </a:solidFill>
                <a:latin typeface="맑은 고딕"/>
              </a:defRPr>
            </a:pPr>
            <a:r>
              <a:t>평균 챕터 규모          35.6명</a:t>
            </a:r>
          </a:p>
          <a:p>
            <a:pPr algn="l">
              <a:spcBef>
                <a:spcPts val="600"/>
              </a:spcBef>
              <a:defRPr sz="1500" b="1">
                <a:solidFill>
                  <a:srgbClr val="1A1A2E"/>
                </a:solidFill>
                <a:latin typeface="맑은 고딕"/>
              </a:defRPr>
            </a:pPr>
            <a:r>
              <a:t>멤버 유지율               62.4%</a:t>
            </a:r>
          </a:p>
          <a:p>
            <a:pPr algn="l">
              <a:spcBef>
                <a:spcPts val="600"/>
              </a:spcBef>
              <a:defRPr sz="1500" b="1">
                <a:solidFill>
                  <a:srgbClr val="1A1A2E"/>
                </a:solidFill>
                <a:latin typeface="맑은 고딕"/>
              </a:defRPr>
            </a:pPr>
            <a:r>
              <a:t>방문자/멤버               1.25명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309360" y="1463040"/>
            <a:ext cx="5120640" cy="2377440"/>
          </a:xfrm>
          <a:prstGeom prst="round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600" b="1">
                <a:solidFill>
                  <a:srgbClr val="FFFFFF"/>
                </a:solidFill>
                <a:latin typeface="맑은 고딕"/>
              </a:defRPr>
            </a:pPr>
            <a:r>
              <a:t>📈 HIGH RPI 챕터 (상위 25%)</a:t>
            </a:r>
          </a:p>
          <a:p>
            <a:pPr algn="l">
              <a:defRPr sz="1100" b="0">
                <a:solidFill>
                  <a:srgbClr val="FFCCCC"/>
                </a:solidFill>
                <a:latin typeface="맑은 고딕"/>
              </a:defRPr>
            </a:pPr>
            <a:r>
              <a:t>평균 RPI ≥ 0.91</a:t>
            </a:r>
          </a:p>
          <a:p>
            <a:pPr algn="l">
              <a:defRPr sz="600" b="0">
                <a:solidFill>
                  <a:srgbClr val="1A1A2E"/>
                </a:solidFill>
                <a:latin typeface="맑은 고딕"/>
              </a:defRPr>
            </a:pPr>
          </a:p>
          <a:p>
            <a:pPr algn="l">
              <a:defRPr sz="1500" b="1">
                <a:solidFill>
                  <a:srgbClr val="FFFFFF"/>
                </a:solidFill>
                <a:latin typeface="맑은 고딕"/>
              </a:defRPr>
            </a:pPr>
            <a:r>
              <a:t>평균 챕터 규모          44.3명</a:t>
            </a:r>
          </a:p>
          <a:p>
            <a:pPr algn="l">
              <a:spcBef>
                <a:spcPts val="600"/>
              </a:spcBef>
              <a:defRPr sz="1500" b="1">
                <a:solidFill>
                  <a:srgbClr val="FFFFFF"/>
                </a:solidFill>
                <a:latin typeface="맑은 고딕"/>
              </a:defRPr>
            </a:pPr>
            <a:r>
              <a:t>멤버 유지율               74.4%</a:t>
            </a:r>
          </a:p>
          <a:p>
            <a:pPr algn="l">
              <a:spcBef>
                <a:spcPts val="600"/>
              </a:spcBef>
              <a:defRPr sz="1500" b="1">
                <a:solidFill>
                  <a:srgbClr val="FFFFFF"/>
                </a:solidFill>
                <a:latin typeface="맑은 고딕"/>
              </a:defRPr>
            </a:pPr>
            <a:r>
              <a:t>방문자/멤버               1.63명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097280" y="4206240"/>
            <a:ext cx="3108960" cy="13716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3600" b="1">
                <a:solidFill>
                  <a:srgbClr val="CC0000"/>
                </a:solidFill>
                <a:latin typeface="맑은 고딕"/>
              </a:defRPr>
            </a:pPr>
            <a:r>
              <a:t>+24%</a:t>
            </a:r>
          </a:p>
          <a:p>
            <a:pPr algn="ctr">
              <a:defRPr sz="1400" b="1">
                <a:solidFill>
                  <a:srgbClr val="1A1A2E"/>
                </a:solidFill>
                <a:latin typeface="맑은 고딕"/>
              </a:defRPr>
            </a:pPr>
            <a:r>
              <a:t>챕터 규모</a:t>
            </a:r>
          </a:p>
          <a:p>
            <a:pPr algn="ctr">
              <a:defRPr sz="1000" b="0">
                <a:solidFill>
                  <a:srgbClr val="999999"/>
                </a:solidFill>
                <a:latin typeface="맑은 고딕"/>
              </a:defRPr>
            </a:pPr>
            <a:r>
              <a:t>+8.7명 더 큰 규모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754880" y="4206240"/>
            <a:ext cx="3108960" cy="13716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3600" b="1">
                <a:solidFill>
                  <a:srgbClr val="00B894"/>
                </a:solidFill>
                <a:latin typeface="맑은 고딕"/>
              </a:defRPr>
            </a:pPr>
            <a:r>
              <a:t>+19%</a:t>
            </a:r>
          </a:p>
          <a:p>
            <a:pPr algn="ctr">
              <a:defRPr sz="1400" b="1">
                <a:solidFill>
                  <a:srgbClr val="1A1A2E"/>
                </a:solidFill>
                <a:latin typeface="맑은 고딕"/>
              </a:defRPr>
            </a:pPr>
            <a:r>
              <a:t>멤버 유지율</a:t>
            </a:r>
          </a:p>
          <a:p>
            <a:pPr algn="ctr">
              <a:defRPr sz="1000" b="0">
                <a:solidFill>
                  <a:srgbClr val="999999"/>
                </a:solidFill>
                <a:latin typeface="맑은 고딕"/>
              </a:defRPr>
            </a:pPr>
            <a:r>
              <a:t>+12%p 더 높은 안정성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412480" y="4206240"/>
            <a:ext cx="3108960" cy="13716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3600" b="1">
                <a:solidFill>
                  <a:srgbClr val="F39C12"/>
                </a:solidFill>
                <a:latin typeface="맑은 고딕"/>
              </a:defRPr>
            </a:pPr>
            <a:r>
              <a:t>+30%</a:t>
            </a:r>
          </a:p>
          <a:p>
            <a:pPr algn="ctr">
              <a:defRPr sz="1400" b="1">
                <a:solidFill>
                  <a:srgbClr val="1A1A2E"/>
                </a:solidFill>
                <a:latin typeface="맑은 고딕"/>
              </a:defRPr>
            </a:pPr>
            <a:r>
              <a:t>방문자 활동</a:t>
            </a:r>
          </a:p>
          <a:p>
            <a:pPr algn="ctr">
              <a:defRPr sz="1000" b="0">
                <a:solidFill>
                  <a:srgbClr val="999999"/>
                </a:solidFill>
                <a:latin typeface="맑은 고딕"/>
              </a:defRPr>
            </a:pPr>
            <a:r>
              <a:t>+0.38명/멤버 더 많은 기회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0" y="5760720"/>
            <a:ext cx="12191695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999999"/>
                </a:solidFill>
                <a:latin typeface="맑은 고딕"/>
              </a:defRPr>
            </a:pPr>
            <a:r>
              <a:t>모든 차이는 통계적으로 유의미합니다 (p &lt; 0.05)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766560"/>
            <a:ext cx="12191695" cy="9144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65760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CC0000"/>
                </a:solidFill>
                <a:latin typeface="맑은 고딕"/>
              </a:defRPr>
            </a:pPr>
            <a:r>
              <a:t>SUCCESS MODELS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1A1A2E"/>
                </a:solidFill>
                <a:latin typeface="맑은 고딕"/>
              </a:defRPr>
            </a:pPr>
            <a:r>
              <a:t>TOP 챕터가 증명하는 성장 공식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188720"/>
            <a:ext cx="1097280" cy="54864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31520" y="1554480"/>
            <a:ext cx="3474720" cy="256032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400"/>
            </a:pPr>
          </a:p>
          <a:p>
            <a:pPr algn="r">
              <a:defRPr sz="1000" b="1">
                <a:solidFill>
                  <a:srgbClr val="CC0000"/>
                </a:solidFill>
                <a:latin typeface="맑은 고딕"/>
              </a:defRPr>
            </a:pPr>
            <a:r>
              <a:t>[BEST]</a:t>
            </a:r>
          </a:p>
          <a:p>
            <a:pPr algn="ctr">
              <a:defRPr sz="2000" b="1">
                <a:solidFill>
                  <a:srgbClr val="1A1A2E"/>
                </a:solidFill>
                <a:latin typeface="맑은 고딕"/>
              </a:defRPr>
            </a:pPr>
            <a:r>
              <a:t>Crown 챕터</a:t>
            </a:r>
          </a:p>
          <a:p>
            <a:pPr algn="l">
              <a:defRPr sz="400" b="0">
                <a:solidFill>
                  <a:srgbClr val="1A1A2E"/>
                </a:solidFill>
                <a:latin typeface="맑은 고딕"/>
              </a:defRPr>
            </a:pPr>
          </a:p>
          <a:p>
            <a:pPr algn="ctr">
              <a:defRPr sz="2200" b="1">
                <a:solidFill>
                  <a:srgbClr val="CC0000"/>
                </a:solidFill>
                <a:latin typeface="맑은 고딕"/>
              </a:defRPr>
            </a:pPr>
            <a:r>
              <a:t>RPI  2.79</a:t>
            </a:r>
          </a:p>
          <a:p>
            <a:pPr algn="ctr">
              <a:defRPr sz="1800" b="1">
                <a:solidFill>
                  <a:srgbClr val="00B894"/>
                </a:solidFill>
                <a:latin typeface="맑은 고딕"/>
              </a:defRPr>
            </a:pPr>
            <a:r>
              <a:t>참가율  97.9%</a:t>
            </a:r>
          </a:p>
          <a:p>
            <a:pPr algn="ctr">
              <a:spcBef>
                <a:spcPts val="600"/>
              </a:spcBef>
              <a:defRPr sz="1100" b="0">
                <a:solidFill>
                  <a:srgbClr val="999999"/>
                </a:solidFill>
                <a:latin typeface="맑은 고딕"/>
              </a:defRPr>
            </a:pPr>
            <a:r>
              <a:t>챕터 규모 45명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1554480"/>
            <a:ext cx="3474720" cy="54864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4572000" y="1554480"/>
            <a:ext cx="3474720" cy="256032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400"/>
            </a:pPr>
          </a:p>
          <a:p>
            <a:pPr algn="r">
              <a:defRPr sz="1000" b="1">
                <a:solidFill>
                  <a:srgbClr val="F39C12"/>
                </a:solidFill>
                <a:latin typeface="맑은 고딕"/>
              </a:defRPr>
            </a:pPr>
            <a:r>
              <a:t>[HIGH RET.]</a:t>
            </a:r>
          </a:p>
          <a:p>
            <a:pPr algn="ctr">
              <a:defRPr sz="2000" b="1">
                <a:solidFill>
                  <a:srgbClr val="1A1A2E"/>
                </a:solidFill>
                <a:latin typeface="맑은 고딕"/>
              </a:defRPr>
            </a:pPr>
            <a:r>
              <a:t>Smart 챕터</a:t>
            </a:r>
          </a:p>
          <a:p>
            <a:pPr algn="l">
              <a:defRPr sz="400" b="0">
                <a:solidFill>
                  <a:srgbClr val="1A1A2E"/>
                </a:solidFill>
                <a:latin typeface="맑은 고딕"/>
              </a:defRPr>
            </a:pPr>
          </a:p>
          <a:p>
            <a:pPr algn="ctr">
              <a:defRPr sz="2200" b="1">
                <a:solidFill>
                  <a:srgbClr val="CC0000"/>
                </a:solidFill>
                <a:latin typeface="맑은 고딕"/>
              </a:defRPr>
            </a:pPr>
            <a:r>
              <a:t>RPI  2.63</a:t>
            </a:r>
          </a:p>
          <a:p>
            <a:pPr algn="ctr">
              <a:defRPr sz="1800" b="1">
                <a:solidFill>
                  <a:srgbClr val="00B894"/>
                </a:solidFill>
                <a:latin typeface="맑은 고딕"/>
              </a:defRPr>
            </a:pPr>
            <a:r>
              <a:t>참가율  89.3%</a:t>
            </a:r>
          </a:p>
          <a:p>
            <a:pPr algn="ctr">
              <a:spcBef>
                <a:spcPts val="600"/>
              </a:spcBef>
              <a:defRPr sz="1100" b="0">
                <a:solidFill>
                  <a:srgbClr val="999999"/>
                </a:solidFill>
                <a:latin typeface="맑은 고딕"/>
              </a:defRPr>
            </a:pPr>
            <a:r>
              <a:t>높은 멤버 유지율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0" y="1554480"/>
            <a:ext cx="3474720" cy="54864"/>
          </a:xfrm>
          <a:prstGeom prst="rect">
            <a:avLst/>
          </a:prstGeom>
          <a:solidFill>
            <a:srgbClr val="F39C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8412480" y="1554480"/>
            <a:ext cx="3474720" cy="256032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400"/>
            </a:pPr>
          </a:p>
          <a:p>
            <a:pPr algn="r">
              <a:defRPr sz="1000" b="1">
                <a:solidFill>
                  <a:srgbClr val="00B894"/>
                </a:solidFill>
                <a:latin typeface="맑은 고딕"/>
              </a:defRPr>
            </a:pPr>
            <a:r>
              <a:t>[CONSISTENT]</a:t>
            </a:r>
          </a:p>
          <a:p>
            <a:pPr algn="ctr">
              <a:defRPr sz="2000" b="1">
                <a:solidFill>
                  <a:srgbClr val="1A1A2E"/>
                </a:solidFill>
                <a:latin typeface="맑은 고딕"/>
              </a:defRPr>
            </a:pPr>
            <a:r>
              <a:t>Synergy 챕터</a:t>
            </a:r>
          </a:p>
          <a:p>
            <a:pPr algn="l">
              <a:defRPr sz="400" b="0">
                <a:solidFill>
                  <a:srgbClr val="1A1A2E"/>
                </a:solidFill>
                <a:latin typeface="맑은 고딕"/>
              </a:defRPr>
            </a:pPr>
          </a:p>
          <a:p>
            <a:pPr algn="ctr">
              <a:defRPr sz="2200" b="1">
                <a:solidFill>
                  <a:srgbClr val="CC0000"/>
                </a:solidFill>
                <a:latin typeface="맑은 고딕"/>
              </a:defRPr>
            </a:pPr>
            <a:r>
              <a:t>RPI  2.35</a:t>
            </a:r>
          </a:p>
          <a:p>
            <a:pPr algn="ctr">
              <a:defRPr sz="1800" b="1">
                <a:solidFill>
                  <a:srgbClr val="00B894"/>
                </a:solidFill>
                <a:latin typeface="맑은 고딕"/>
              </a:defRPr>
            </a:pPr>
            <a:r>
              <a:t>참가율  98.7%</a:t>
            </a:r>
          </a:p>
          <a:p>
            <a:pPr algn="ctr">
              <a:spcBef>
                <a:spcPts val="600"/>
              </a:spcBef>
              <a:defRPr sz="1100" b="0">
                <a:solidFill>
                  <a:srgbClr val="999999"/>
                </a:solidFill>
                <a:latin typeface="맑은 고딕"/>
              </a:defRPr>
            </a:pPr>
            <a:r>
              <a:t>참가율 최상위</a:t>
            </a:r>
          </a:p>
        </p:txBody>
      </p:sp>
      <p:sp>
        <p:nvSpPr>
          <p:cNvPr id="10" name="Rectangle 9"/>
          <p:cNvSpPr/>
          <p:nvPr/>
        </p:nvSpPr>
        <p:spPr>
          <a:xfrm>
            <a:off x="8412480" y="1554480"/>
            <a:ext cx="3474720" cy="54864"/>
          </a:xfrm>
          <a:prstGeom prst="rect">
            <a:avLst/>
          </a:prstGeom>
          <a:solidFill>
            <a:srgbClr val="00B89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7200" y="4297680"/>
            <a:ext cx="11247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1A1A2E"/>
                </a:solidFill>
                <a:latin typeface="맑은 고딕"/>
              </a:defRPr>
            </a:pPr>
            <a:r>
              <a:t>높은 RPI  →  높은 참가율  →  큰 챕터  →  높은 유지율  →  많은 방문자  →  지속 성장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31520" y="4937760"/>
            <a:ext cx="10698480" cy="548640"/>
          </a:xfrm>
          <a:prstGeom prst="round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400"/>
              </a:spcBef>
              <a:defRPr sz="1200" b="1">
                <a:solidFill>
                  <a:srgbClr val="FFFFFF"/>
                </a:solidFill>
                <a:latin typeface="맑은 고딕"/>
              </a:defRPr>
            </a:pPr>
            <a:r>
              <a:t>📊 공통점: TOP 챕터들은 모두 RPI 2.0 이상 + 참가율 89% 이상 → RPS 적극 활용의 결과</a:t>
            </a:r>
          </a:p>
        </p:txBody>
      </p:sp>
      <p:sp>
        <p:nvSpPr>
          <p:cNvPr id="13" name="Rectangle 12"/>
          <p:cNvSpPr/>
          <p:nvPr/>
        </p:nvSpPr>
        <p:spPr>
          <a:xfrm>
            <a:off x="0" y="6766560"/>
            <a:ext cx="12191695" cy="9144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0" y="274320"/>
            <a:ext cx="12191695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6B6B"/>
                </a:solidFill>
                <a:latin typeface="맑은 고딕"/>
              </a:defRPr>
            </a:pPr>
            <a:r>
              <a:t>KEY INSIGHT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0" y="640080"/>
            <a:ext cx="1219169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200" b="1">
                <a:solidFill>
                  <a:srgbClr val="FFFFFF"/>
                </a:solidFill>
                <a:latin typeface="맑은 고딕"/>
              </a:defRPr>
            </a:pPr>
            <a:r>
              <a:t>RPS가 리퍼럴 파트너 확보에</a:t>
            </a:r>
            <a:br/>
            <a:r>
              <a:t>강력한 3가지 이유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737360"/>
            <a:ext cx="3474720" cy="32004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2800"/>
            </a:pPr>
            <a:r>
              <a:t>🔍</a:t>
            </a:r>
          </a:p>
          <a:p>
            <a:pPr algn="ctr">
              <a:defRPr sz="1600" b="1">
                <a:solidFill>
                  <a:srgbClr val="1A1A2E"/>
                </a:solidFill>
                <a:latin typeface="맑은 고딕"/>
              </a:defRPr>
            </a:pPr>
            <a:r>
              <a:t>관계를 '측정 가능'하게</a:t>
            </a:r>
          </a:p>
          <a:p>
            <a:pPr algn="l">
              <a:defRPr sz="400" b="0">
                <a:solidFill>
                  <a:srgbClr val="1A1A2E"/>
                </a:solidFill>
                <a:latin typeface="맑은 고딕"/>
              </a:defRPr>
            </a:pPr>
          </a:p>
          <a:p>
            <a:pPr algn="l">
              <a:spcBef>
                <a:spcPts val="300"/>
              </a:spcBef>
              <a:defRPr sz="1200" b="0">
                <a:solidFill>
                  <a:srgbClr val="666666"/>
                </a:solidFill>
                <a:latin typeface="맑은 고딕"/>
              </a:defRPr>
            </a:pPr>
            <a:r>
              <a:t>VCR 시각화로</a:t>
            </a:r>
          </a:p>
          <a:p>
            <a:pPr algn="l">
              <a:spcBef>
                <a:spcPts val="300"/>
              </a:spcBef>
              <a:defRPr sz="1200" b="0">
                <a:solidFill>
                  <a:srgbClr val="666666"/>
                </a:solidFill>
                <a:latin typeface="맑은 고딕"/>
              </a:defRPr>
            </a:pPr>
            <a:r>
              <a:t>V→C→P 전환율 추적</a:t>
            </a:r>
          </a:p>
          <a:p>
            <a:pPr algn="l">
              <a:spcBef>
                <a:spcPts val="300"/>
              </a:spcBef>
              <a:defRPr sz="1200" b="0">
                <a:solidFill>
                  <a:srgbClr val="666666"/>
                </a:solidFill>
                <a:latin typeface="맑은 고딕"/>
              </a:defRPr>
            </a:pPr>
            <a:r>
              <a:t>현재 참가율 71%</a:t>
            </a:r>
          </a:p>
          <a:p>
            <a:pPr algn="l">
              <a:spcBef>
                <a:spcPts val="300"/>
              </a:spcBef>
              <a:defRPr sz="1200" b="0">
                <a:solidFill>
                  <a:srgbClr val="666666"/>
                </a:solidFill>
                <a:latin typeface="맑은 고딕"/>
              </a:defRPr>
            </a:pPr>
            <a:r>
              <a:t>→ 데이터가 다음 액션을 알려줍니다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0" y="1737360"/>
            <a:ext cx="3474720" cy="32004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2800"/>
            </a:pPr>
            <a:r>
              <a:t>🎯</a:t>
            </a:r>
          </a:p>
          <a:p>
            <a:pPr algn="ctr">
              <a:defRPr sz="1600" b="1">
                <a:solidFill>
                  <a:srgbClr val="1A1A2E"/>
                </a:solidFill>
                <a:latin typeface="맑은 고딕"/>
              </a:defRPr>
            </a:pPr>
            <a:r>
              <a:t>전략적 파트너십 설계</a:t>
            </a:r>
          </a:p>
          <a:p>
            <a:pPr algn="l">
              <a:defRPr sz="400" b="0">
                <a:solidFill>
                  <a:srgbClr val="1A1A2E"/>
                </a:solidFill>
                <a:latin typeface="맑은 고딕"/>
              </a:defRPr>
            </a:pPr>
          </a:p>
          <a:p>
            <a:pPr algn="l">
              <a:spcBef>
                <a:spcPts val="300"/>
              </a:spcBef>
              <a:defRPr sz="1200" b="0">
                <a:solidFill>
                  <a:srgbClr val="666666"/>
                </a:solidFill>
                <a:latin typeface="맑은 고딕"/>
              </a:defRPr>
            </a:pPr>
            <a:r>
              <a:t>V단계 → 1:1 미팅 증가</a:t>
            </a:r>
          </a:p>
          <a:p>
            <a:pPr algn="l">
              <a:spcBef>
                <a:spcPts val="300"/>
              </a:spcBef>
              <a:defRPr sz="1200" b="0">
                <a:solidFill>
                  <a:srgbClr val="666666"/>
                </a:solidFill>
                <a:latin typeface="맑은 고딕"/>
              </a:defRPr>
            </a:pPr>
            <a:r>
              <a:t>C단계 → 리퍼럴 요청</a:t>
            </a:r>
          </a:p>
          <a:p>
            <a:pPr algn="l">
              <a:spcBef>
                <a:spcPts val="300"/>
              </a:spcBef>
              <a:defRPr sz="1200" b="0">
                <a:solidFill>
                  <a:srgbClr val="666666"/>
                </a:solidFill>
                <a:latin typeface="맑은 고딕"/>
              </a:defRPr>
            </a:pPr>
            <a:r>
              <a:t>P단계 → 수익 확대</a:t>
            </a:r>
          </a:p>
          <a:p>
            <a:pPr algn="l">
              <a:spcBef>
                <a:spcPts val="300"/>
              </a:spcBef>
              <a:defRPr sz="1200" b="0">
                <a:solidFill>
                  <a:srgbClr val="666666"/>
                </a:solidFill>
                <a:latin typeface="맑은 고딕"/>
              </a:defRPr>
            </a:pPr>
            <a:r>
              <a:t>→ 감 아닌 데이터로 전략을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412480" y="1737360"/>
            <a:ext cx="3474720" cy="32004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2800"/>
            </a:pPr>
            <a:r>
              <a:t>📈</a:t>
            </a:r>
          </a:p>
          <a:p>
            <a:pPr algn="ctr">
              <a:defRPr sz="1600" b="1">
                <a:solidFill>
                  <a:srgbClr val="1A1A2E"/>
                </a:solidFill>
                <a:latin typeface="맑은 고딕"/>
              </a:defRPr>
            </a:pPr>
            <a:r>
              <a:t>챕터 전체 선순환 성장</a:t>
            </a:r>
          </a:p>
          <a:p>
            <a:pPr algn="l">
              <a:defRPr sz="400" b="0">
                <a:solidFill>
                  <a:srgbClr val="1A1A2E"/>
                </a:solidFill>
                <a:latin typeface="맑은 고딕"/>
              </a:defRPr>
            </a:pPr>
          </a:p>
          <a:p>
            <a:pPr algn="l">
              <a:spcBef>
                <a:spcPts val="300"/>
              </a:spcBef>
              <a:defRPr sz="1200" b="0">
                <a:solidFill>
                  <a:srgbClr val="666666"/>
                </a:solidFill>
                <a:latin typeface="맑은 고딕"/>
              </a:defRPr>
            </a:pPr>
            <a:r>
              <a:t>전원 입력 → RPI +24% 규모↑</a:t>
            </a:r>
          </a:p>
          <a:p>
            <a:pPr algn="l">
              <a:spcBef>
                <a:spcPts val="300"/>
              </a:spcBef>
              <a:defRPr sz="1200" b="0">
                <a:solidFill>
                  <a:srgbClr val="666666"/>
                </a:solidFill>
                <a:latin typeface="맑은 고딕"/>
              </a:defRPr>
            </a:pPr>
            <a:r>
              <a:t>높은 RPI → 유지율 +19%↑</a:t>
            </a:r>
          </a:p>
          <a:p>
            <a:pPr algn="l">
              <a:spcBef>
                <a:spcPts val="300"/>
              </a:spcBef>
              <a:defRPr sz="1200" b="0">
                <a:solidFill>
                  <a:srgbClr val="666666"/>
                </a:solidFill>
                <a:latin typeface="맑은 고딕"/>
              </a:defRPr>
            </a:pPr>
            <a:r>
              <a:t>안정된 챕터 → 방문자 +30%↑</a:t>
            </a:r>
          </a:p>
          <a:p>
            <a:pPr algn="l">
              <a:spcBef>
                <a:spcPts val="300"/>
              </a:spcBef>
              <a:defRPr sz="1200" b="0">
                <a:solidFill>
                  <a:srgbClr val="666666"/>
                </a:solidFill>
                <a:latin typeface="맑은 고딕"/>
              </a:defRPr>
            </a:pPr>
            <a:r>
              <a:t>→ 선순환의 시작점 = RPS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5212080"/>
            <a:ext cx="10698480" cy="548640"/>
          </a:xfrm>
          <a:prstGeom prst="roundRect">
            <a:avLst/>
          </a:prstGeom>
          <a:solidFill>
            <a:srgbClr val="2A2A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400"/>
              </a:spcBef>
              <a:defRPr sz="1100" b="0">
                <a:solidFill>
                  <a:srgbClr val="999999"/>
                </a:solidFill>
                <a:latin typeface="맑은 고딕"/>
              </a:defRPr>
            </a:pPr>
            <a:r>
              <a:t>🌍 BNI Global Power Team: "Cross-border Collaboration &amp; High-quality Referrals" → RPS는 이 철학의 한국형 디지털 구현체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6766560"/>
            <a:ext cx="12191695" cy="9144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0" y="274320"/>
            <a:ext cx="12191695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CC0000"/>
                </a:solidFill>
                <a:latin typeface="맑은 고딕"/>
              </a:defRPr>
            </a:pPr>
            <a:r>
              <a:t>ACTION PLAN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0" y="640080"/>
            <a:ext cx="12191695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1">
                <a:solidFill>
                  <a:srgbClr val="1A1A2E"/>
                </a:solidFill>
                <a:latin typeface="맑은 고딕"/>
              </a:defRPr>
            </a:pPr>
            <a:r>
              <a:t>오늘부터 바로 실행하세요</a:t>
            </a:r>
          </a:p>
        </p:txBody>
      </p:sp>
      <p:sp>
        <p:nvSpPr>
          <p:cNvPr id="4" name="Rectangle 3"/>
          <p:cNvSpPr/>
          <p:nvPr/>
        </p:nvSpPr>
        <p:spPr>
          <a:xfrm>
            <a:off x="5577840" y="1097280"/>
            <a:ext cx="1097280" cy="54864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31520" y="1463040"/>
            <a:ext cx="3474720" cy="3108960"/>
          </a:xfrm>
          <a:prstGeom prst="round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400"/>
            </a:pPr>
          </a:p>
          <a:p>
            <a:pPr algn="l">
              <a:defRPr sz="2800" b="0">
                <a:solidFill>
                  <a:srgbClr val="1A1A2E"/>
                </a:solidFill>
                <a:latin typeface="맑은 고딕"/>
              </a:defRPr>
            </a:pPr>
          </a:p>
          <a:p>
            <a:pPr algn="ctr">
              <a:defRPr sz="1800" b="1">
                <a:solidFill>
                  <a:srgbClr val="FFFFFF"/>
                </a:solidFill>
                <a:latin typeface="맑은 고딕"/>
              </a:defRPr>
            </a:pPr>
            <a:r>
              <a:t>오늘</a:t>
            </a:r>
          </a:p>
          <a:p>
            <a:pPr algn="l">
              <a:defRPr sz="400" b="0">
                <a:solidFill>
                  <a:srgbClr val="1A1A2E"/>
                </a:solidFill>
                <a:latin typeface="맑은 고딕"/>
              </a:defRPr>
            </a:pPr>
          </a:p>
          <a:p>
            <a:pPr algn="ctr">
              <a:defRPr sz="1300" b="0">
                <a:solidFill>
                  <a:srgbClr val="CCCCCC"/>
                </a:solidFill>
                <a:latin typeface="맑은 고딕"/>
              </a:defRPr>
            </a:pPr>
            <a:r>
              <a:t>RPS에 로그인하고</a:t>
            </a:r>
          </a:p>
          <a:p>
            <a:pPr algn="ctr">
              <a:defRPr sz="1300" b="0">
                <a:solidFill>
                  <a:srgbClr val="CCCCCC"/>
                </a:solidFill>
                <a:latin typeface="맑은 고딕"/>
              </a:defRPr>
            </a:pPr>
            <a:r>
              <a:t>파트너 정보를 입력하세요</a:t>
            </a:r>
          </a:p>
          <a:p>
            <a:pPr algn="l">
              <a:defRPr sz="400" b="0">
                <a:solidFill>
                  <a:srgbClr val="1A1A2E"/>
                </a:solidFill>
                <a:latin typeface="맑은 고딕"/>
              </a:defRPr>
            </a:pPr>
          </a:p>
          <a:p>
            <a:pPr algn="ctr">
              <a:defRPr sz="1000" b="0">
                <a:solidFill>
                  <a:srgbClr val="999999"/>
                </a:solidFill>
                <a:latin typeface="맑은 고딕"/>
              </a:defRPr>
            </a:pPr>
            <a:r>
              <a:t>rps-bnikorea.com</a:t>
            </a:r>
          </a:p>
        </p:txBody>
      </p:sp>
      <p:sp>
        <p:nvSpPr>
          <p:cNvPr id="6" name="Oval 5"/>
          <p:cNvSpPr/>
          <p:nvPr/>
        </p:nvSpPr>
        <p:spPr>
          <a:xfrm>
            <a:off x="2011680" y="1737360"/>
            <a:ext cx="640080" cy="640080"/>
          </a:xfrm>
          <a:prstGeom prst="ellipse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2000" b="1">
                <a:solidFill>
                  <a:srgbClr val="FFFFFF"/>
                </a:solidFill>
                <a:latin typeface="맑은 고딕"/>
              </a:defRPr>
            </a:pPr>
            <a:r>
              <a:t>🔑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0" y="1463040"/>
            <a:ext cx="3474720" cy="3108960"/>
          </a:xfrm>
          <a:prstGeom prst="round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400"/>
            </a:pPr>
          </a:p>
          <a:p>
            <a:pPr algn="l">
              <a:defRPr sz="2800" b="0">
                <a:solidFill>
                  <a:srgbClr val="1A1A2E"/>
                </a:solidFill>
                <a:latin typeface="맑은 고딕"/>
              </a:defRPr>
            </a:pPr>
          </a:p>
          <a:p>
            <a:pPr algn="ctr">
              <a:defRPr sz="1800" b="1">
                <a:solidFill>
                  <a:srgbClr val="FFFFFF"/>
                </a:solidFill>
                <a:latin typeface="맑은 고딕"/>
              </a:defRPr>
            </a:pPr>
            <a:r>
              <a:t>매주 3분</a:t>
            </a:r>
          </a:p>
          <a:p>
            <a:pPr algn="l">
              <a:defRPr sz="400" b="0">
                <a:solidFill>
                  <a:srgbClr val="1A1A2E"/>
                </a:solidFill>
                <a:latin typeface="맑은 고딕"/>
              </a:defRPr>
            </a:pPr>
          </a:p>
          <a:p>
            <a:pPr algn="ctr">
              <a:defRPr sz="1300" b="0">
                <a:solidFill>
                  <a:srgbClr val="CCCCCC"/>
                </a:solidFill>
                <a:latin typeface="맑은 고딕"/>
              </a:defRPr>
            </a:pPr>
            <a:r>
              <a:t>VCR 단계 업데이트 +</a:t>
            </a:r>
          </a:p>
          <a:p>
            <a:pPr algn="ctr">
              <a:defRPr sz="1300" b="0">
                <a:solidFill>
                  <a:srgbClr val="CCCCCC"/>
                </a:solidFill>
                <a:latin typeface="맑은 고딕"/>
              </a:defRPr>
            </a:pPr>
            <a:r>
              <a:t>'수익 단계' 체크 잊지 마세요</a:t>
            </a:r>
          </a:p>
          <a:p>
            <a:pPr algn="l">
              <a:defRPr sz="400" b="0">
                <a:solidFill>
                  <a:srgbClr val="1A1A2E"/>
                </a:solidFill>
                <a:latin typeface="맑은 고딕"/>
              </a:defRPr>
            </a:pPr>
          </a:p>
          <a:p>
            <a:pPr algn="ctr">
              <a:defRPr sz="1000" b="0">
                <a:solidFill>
                  <a:srgbClr val="999999"/>
                </a:solidFill>
                <a:latin typeface="맑은 고딕"/>
              </a:defRPr>
            </a:pPr>
            <a:r>
              <a:t>⏱️ 3분 = RPI 반영</a:t>
            </a:r>
          </a:p>
        </p:txBody>
      </p:sp>
      <p:sp>
        <p:nvSpPr>
          <p:cNvPr id="8" name="Oval 7"/>
          <p:cNvSpPr/>
          <p:nvPr/>
        </p:nvSpPr>
        <p:spPr>
          <a:xfrm>
            <a:off x="5852160" y="1737360"/>
            <a:ext cx="640080" cy="640080"/>
          </a:xfrm>
          <a:prstGeom prst="ellipse">
            <a:avLst/>
          </a:prstGeom>
          <a:solidFill>
            <a:srgbClr val="F39C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2000" b="1">
                <a:solidFill>
                  <a:srgbClr val="FFFFFF"/>
                </a:solidFill>
                <a:latin typeface="맑은 고딕"/>
              </a:defRPr>
            </a:pPr>
            <a:r>
              <a:t>📅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412480" y="1463040"/>
            <a:ext cx="3474720" cy="3108960"/>
          </a:xfrm>
          <a:prstGeom prst="round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400"/>
            </a:pPr>
          </a:p>
          <a:p>
            <a:pPr algn="l">
              <a:defRPr sz="2800" b="0">
                <a:solidFill>
                  <a:srgbClr val="1A1A2E"/>
                </a:solidFill>
                <a:latin typeface="맑은 고딕"/>
              </a:defRPr>
            </a:pPr>
          </a:p>
          <a:p>
            <a:pPr algn="ctr">
              <a:defRPr sz="1800" b="1">
                <a:solidFill>
                  <a:srgbClr val="FFFFFF"/>
                </a:solidFill>
                <a:latin typeface="맑은 고딕"/>
              </a:defRPr>
            </a:pPr>
            <a:r>
              <a:t>목표: TOP 25%</a:t>
            </a:r>
          </a:p>
          <a:p>
            <a:pPr algn="l">
              <a:defRPr sz="400" b="0">
                <a:solidFill>
                  <a:srgbClr val="1A1A2E"/>
                </a:solidFill>
                <a:latin typeface="맑은 고딕"/>
              </a:defRPr>
            </a:pPr>
          </a:p>
          <a:p>
            <a:pPr algn="ctr">
              <a:defRPr sz="1300" b="0">
                <a:solidFill>
                  <a:srgbClr val="CCCCCC"/>
                </a:solidFill>
                <a:latin typeface="맑은 고딕"/>
              </a:defRPr>
            </a:pPr>
            <a:r>
              <a:t>챕터 전원 참여 →</a:t>
            </a:r>
          </a:p>
          <a:p>
            <a:pPr algn="ctr">
              <a:defRPr sz="1300" b="0">
                <a:solidFill>
                  <a:srgbClr val="CCCCCC"/>
                </a:solidFill>
                <a:latin typeface="맑은 고딕"/>
              </a:defRPr>
            </a:pPr>
            <a:r>
              <a:t>RPI ≥ 0.91 달성!</a:t>
            </a:r>
          </a:p>
          <a:p>
            <a:pPr algn="l">
              <a:defRPr sz="400" b="0">
                <a:solidFill>
                  <a:srgbClr val="1A1A2E"/>
                </a:solidFill>
                <a:latin typeface="맑은 고딕"/>
              </a:defRPr>
            </a:pPr>
          </a:p>
          <a:p>
            <a:pPr algn="ctr">
              <a:defRPr sz="1000" b="0">
                <a:solidFill>
                  <a:srgbClr val="999999"/>
                </a:solidFill>
                <a:latin typeface="맑은 고딕"/>
              </a:defRPr>
            </a:pPr>
            <a:r>
              <a:t>+24% 규모·+19% 유지·+30% 기회</a:t>
            </a:r>
          </a:p>
        </p:txBody>
      </p:sp>
      <p:sp>
        <p:nvSpPr>
          <p:cNvPr id="10" name="Oval 9"/>
          <p:cNvSpPr/>
          <p:nvPr/>
        </p:nvSpPr>
        <p:spPr>
          <a:xfrm>
            <a:off x="9692640" y="1737360"/>
            <a:ext cx="640080" cy="640080"/>
          </a:xfrm>
          <a:prstGeom prst="ellipse">
            <a:avLst/>
          </a:prstGeom>
          <a:solidFill>
            <a:srgbClr val="00B89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2000" b="1">
                <a:solidFill>
                  <a:srgbClr val="FFFFFF"/>
                </a:solidFill>
                <a:latin typeface="맑은 고딕"/>
              </a:defRPr>
            </a:pPr>
            <a:r>
              <a:t>🏆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31520" y="4846320"/>
            <a:ext cx="10698480" cy="640080"/>
          </a:xfrm>
          <a:prstGeom prst="roundRect">
            <a:avLst/>
          </a:prstGeom>
          <a:solidFill>
            <a:srgbClr val="FFF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spcBef>
                <a:spcPts val="400"/>
              </a:spcBef>
              <a:defRPr sz="1300" b="1">
                <a:solidFill>
                  <a:srgbClr val="1A1A2E"/>
                </a:solidFill>
                <a:latin typeface="맑은 고딕"/>
              </a:defRPr>
            </a:pPr>
            <a:r>
              <a:t>⚠️ 반드시 기억: 수익 단계(Profitability) 체크가 RPI의 핵심입니다. 파트너와 실제 비즈니스가 오가면 반드시 체크하세요!</a:t>
            </a:r>
          </a:p>
        </p:txBody>
      </p:sp>
      <p:sp>
        <p:nvSpPr>
          <p:cNvPr id="12" name="Rectangle 11"/>
          <p:cNvSpPr/>
          <p:nvPr/>
        </p:nvSpPr>
        <p:spPr>
          <a:xfrm>
            <a:off x="0" y="6766560"/>
            <a:ext cx="12191695" cy="9144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0" y="457200"/>
            <a:ext cx="12191695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FF6B6B"/>
                </a:solidFill>
                <a:latin typeface="맑은 고딕"/>
              </a:defRPr>
            </a:pPr>
            <a:r>
              <a:t>YOUR CHAPTER, YOUR GROWTH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0" y="914400"/>
            <a:ext cx="12191695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400" b="1">
                <a:solidFill>
                  <a:srgbClr val="FFFFFF"/>
                </a:solidFill>
                <a:latin typeface="맑은 고딕"/>
              </a:defRPr>
            </a:pPr>
            <a:r>
              <a:t>매주 3분의 투자가</a:t>
            </a:r>
            <a:br/>
            <a:r>
              <a:t>챕터의 미래를 바꿉니다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011680" y="2926080"/>
            <a:ext cx="1828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800" b="1">
                <a:solidFill>
                  <a:srgbClr val="CC0000"/>
                </a:solidFill>
                <a:latin typeface="맑은 고딕"/>
              </a:defRPr>
            </a:pPr>
            <a:r>
              <a:t>3분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011680" y="356616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999999"/>
                </a:solidFill>
                <a:latin typeface="맑은 고딕"/>
              </a:defRPr>
            </a:pPr>
            <a:r>
              <a:t>매주 입력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206240" y="2926080"/>
            <a:ext cx="1828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800" b="1">
                <a:solidFill>
                  <a:srgbClr val="00B894"/>
                </a:solidFill>
                <a:latin typeface="맑은 고딕"/>
              </a:defRPr>
            </a:pPr>
            <a:r>
              <a:t>+24%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206240" y="356616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999999"/>
                </a:solidFill>
                <a:latin typeface="맑은 고딕"/>
              </a:defRPr>
            </a:pPr>
            <a:r>
              <a:t>챕터 규모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0" y="2926080"/>
            <a:ext cx="1828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800" b="1">
                <a:solidFill>
                  <a:srgbClr val="F39C12"/>
                </a:solidFill>
                <a:latin typeface="맑은 고딕"/>
              </a:defRPr>
            </a:pPr>
            <a:r>
              <a:t>+19%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0" y="356616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999999"/>
                </a:solidFill>
                <a:latin typeface="맑은 고딕"/>
              </a:defRPr>
            </a:pPr>
            <a:r>
              <a:t>멤버 유지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595359" y="2926080"/>
            <a:ext cx="1828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800" b="1">
                <a:solidFill>
                  <a:srgbClr val="FF6B6B"/>
                </a:solidFill>
                <a:latin typeface="맑은 고딕"/>
              </a:defRPr>
            </a:pPr>
            <a:r>
              <a:t>+30%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595359" y="356616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999999"/>
                </a:solidFill>
                <a:latin typeface="맑은 고딕"/>
              </a:defRPr>
            </a:pPr>
            <a:r>
              <a:t>비즈니스 기회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114800" y="4389120"/>
            <a:ext cx="3931920" cy="640080"/>
          </a:xfrm>
          <a:prstGeom prst="round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400"/>
              </a:spcBef>
              <a:defRPr sz="2000" b="1">
                <a:solidFill>
                  <a:srgbClr val="FFFFFF"/>
                </a:solidFill>
                <a:latin typeface="맑은 고딕"/>
              </a:defRPr>
            </a:pPr>
            <a:r>
              <a:t>지금 바로 시작하기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0" y="5212080"/>
            <a:ext cx="12191695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999999"/>
                </a:solidFill>
                <a:latin typeface="맑은 고딕"/>
              </a:defRPr>
            </a:pPr>
            <a:r>
              <a:t>powerteam-bnikorea.com  |  rps-bnikorea.com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0" y="5943600"/>
            <a:ext cx="12191695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555555"/>
                </a:solidFill>
                <a:latin typeface="맑은 고딕"/>
              </a:defRPr>
            </a:pPr>
            <a:r>
              <a:t>Givers Gain  |  BNI Korea × TOWN X  |  BNI Global Power Team</a:t>
            </a:r>
          </a:p>
        </p:txBody>
      </p:sp>
      <p:sp>
        <p:nvSpPr>
          <p:cNvPr id="15" name="Rectangle 14"/>
          <p:cNvSpPr/>
          <p:nvPr/>
        </p:nvSpPr>
        <p:spPr>
          <a:xfrm>
            <a:off x="0" y="6766560"/>
            <a:ext cx="12191695" cy="9144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0" y="731520"/>
            <a:ext cx="12191695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CC0000"/>
                </a:solidFill>
                <a:latin typeface="맑은 고딕"/>
              </a:defRPr>
            </a:pPr>
            <a:r>
              <a:t>Q &amp; 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0" y="1371600"/>
            <a:ext cx="1219169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5600" b="1">
                <a:solidFill>
                  <a:srgbClr val="1A1A2E"/>
                </a:solidFill>
                <a:latin typeface="맑은 고딕"/>
              </a:defRPr>
            </a:pPr>
            <a:r>
              <a:t>감사합니다</a:t>
            </a:r>
          </a:p>
        </p:txBody>
      </p:sp>
      <p:sp>
        <p:nvSpPr>
          <p:cNvPr id="4" name="Rectangle 3"/>
          <p:cNvSpPr/>
          <p:nvPr/>
        </p:nvSpPr>
        <p:spPr>
          <a:xfrm>
            <a:off x="5577840" y="2468880"/>
            <a:ext cx="1097280" cy="54864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0" y="2743200"/>
            <a:ext cx="1219169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999999"/>
                </a:solidFill>
                <a:latin typeface="맑은 고딕"/>
              </a:defRPr>
            </a:pPr>
            <a:r>
              <a:t>질문이 있으시면 말씀해주세요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2011680" y="3474720"/>
            <a:ext cx="2560320" cy="109728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EEEE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1A1A2E"/>
                </a:solidFill>
                <a:latin typeface="맑은 고딕"/>
              </a:defRPr>
            </a:pPr>
            <a:r>
              <a:t>🌐 메인 사이트</a:t>
            </a:r>
          </a:p>
          <a:p>
            <a:pPr algn="ctr">
              <a:spcBef>
                <a:spcPts val="600"/>
              </a:spcBef>
              <a:defRPr sz="1100" b="1">
                <a:solidFill>
                  <a:srgbClr val="CC0000"/>
                </a:solidFill>
                <a:latin typeface="맑은 고딕"/>
              </a:defRPr>
            </a:pPr>
            <a:r>
              <a:t>powerteam-bnikorea.com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937760" y="3474720"/>
            <a:ext cx="2560320" cy="109728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EEEE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1A1A2E"/>
                </a:solidFill>
                <a:latin typeface="맑은 고딕"/>
              </a:defRPr>
            </a:pPr>
            <a:r>
              <a:t>📊 RPS 스코어보드</a:t>
            </a:r>
          </a:p>
          <a:p>
            <a:pPr algn="ctr">
              <a:spcBef>
                <a:spcPts val="600"/>
              </a:spcBef>
              <a:defRPr sz="1100" b="1">
                <a:solidFill>
                  <a:srgbClr val="CC0000"/>
                </a:solidFill>
                <a:latin typeface="맑은 고딕"/>
              </a:defRPr>
            </a:pPr>
            <a:r>
              <a:t>rps-bnikorea.com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863840" y="3474720"/>
            <a:ext cx="2560320" cy="109728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EEEE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1A1A2E"/>
                </a:solidFill>
                <a:latin typeface="맑은 고딕"/>
              </a:defRPr>
            </a:pPr>
            <a:r>
              <a:t>🌍 글로벌 파워팀</a:t>
            </a:r>
          </a:p>
          <a:p>
            <a:pPr algn="ctr">
              <a:spcBef>
                <a:spcPts val="600"/>
              </a:spcBef>
              <a:defRPr sz="1100" b="1">
                <a:solidFill>
                  <a:srgbClr val="CC0000"/>
                </a:solidFill>
                <a:latin typeface="맑은 고딕"/>
              </a:defRPr>
            </a:pPr>
            <a:r>
              <a:t>bniglobalpowerteam.com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0" y="5669280"/>
            <a:ext cx="12191695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DDDDDD"/>
                </a:solidFill>
                <a:latin typeface="맑은 고딕"/>
              </a:defRPr>
            </a:pPr>
            <a:r>
              <a:t>Givers Gain  |  BNI Korea PowerTeam Toolkit  |  BNI Global Power Team</a:t>
            </a:r>
          </a:p>
        </p:txBody>
      </p:sp>
      <p:sp>
        <p:nvSpPr>
          <p:cNvPr id="10" name="Rectangle 9"/>
          <p:cNvSpPr/>
          <p:nvPr/>
        </p:nvSpPr>
        <p:spPr>
          <a:xfrm>
            <a:off x="0" y="6766560"/>
            <a:ext cx="12191695" cy="9144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