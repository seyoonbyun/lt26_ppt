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noFill/>
          <a:ln w="508000">
            <a:solidFill>
              <a:srgbClr val="F3F3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953305"/>
            <a:ext cx="2381098" cy="2381098"/>
          </a:xfrm>
          <a:prstGeom prst="ellipse">
            <a:avLst/>
          </a:prstGeom>
          <a:solidFill>
            <a:srgbClr val="F9F9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083" b="-2083"/>
          <a:stretch/>
        </p:blipFill>
        <p:spPr>
          <a:xfrm>
            <a:off x="6090818" y="1429207"/>
            <a:ext cx="9144" cy="40005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76158" y="5982005"/>
            <a:ext cx="40882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Givers Gain</a:t>
            </a:r>
            <a:endParaRPr lang="en-US" sz="4500" dirty="0"/>
          </a:p>
        </p:txBody>
      </p:sp>
      <p:sp>
        <p:nvSpPr>
          <p:cNvPr id="8" name="Text 5"/>
          <p:cNvSpPr txBox="1"/>
          <p:nvPr/>
        </p:nvSpPr>
        <p:spPr>
          <a:xfrm>
            <a:off x="1505102" y="840334"/>
            <a:ext cx="91824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-360" kern="0" dirty="0">
                <a:solidFill>
                  <a:srgbClr val="CF20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BNI</a:t>
            </a:r>
            <a:pPr algn="ctr" indent="0" marL="0">
              <a:buNone/>
            </a:pPr>
            <a:r>
              <a:rPr lang="en-US" sz="7200" b="1" spc="-360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KOREA </a:t>
            </a:r>
            <a:endParaRPr lang="en-US" sz="7200" dirty="0"/>
          </a:p>
        </p:txBody>
      </p:sp>
      <p:sp>
        <p:nvSpPr>
          <p:cNvPr id="9" name="Text 6"/>
          <p:cNvSpPr txBox="1"/>
          <p:nvPr/>
        </p:nvSpPr>
        <p:spPr>
          <a:xfrm>
            <a:off x="1447495" y="1907438"/>
            <a:ext cx="92967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-90" kern="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파워팀 툴킷 완벽 가이드</a:t>
            </a:r>
            <a:endParaRPr lang="en-US" sz="3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190" r="-190" t="0" b="0"/>
          <a:stretch/>
        </p:blipFill>
        <p:spPr>
          <a:xfrm>
            <a:off x="5429707" y="2916936"/>
            <a:ext cx="1333195" cy="758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46250" y="3374136"/>
            <a:ext cx="9099194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RPS 관리 • RPI 연동 • 입력수치 최적화</a:t>
            </a:r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10분 핵심 프레젠테이션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5458968" y="5159959"/>
            <a:ext cx="17757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발표자: [이름/직책] </a:t>
            </a:r>
            <a:endParaRPr lang="en-US" sz="15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5172761" y="5198364"/>
            <a:ext cx="171907" cy="1901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79085" y="5502859"/>
            <a:ext cx="15809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일시: [YYYY.MM.DD] 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760" r="-760" t="0" b="0"/>
          <a:stretch/>
        </p:blipFill>
        <p:spPr>
          <a:xfrm>
            <a:off x="5212080" y="5550408"/>
            <a:ext cx="152705" cy="171907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-16" r="-16" t="0" b="0"/>
          <a:stretch/>
        </p:blipFill>
        <p:spPr>
          <a:xfrm>
            <a:off x="4696358" y="4912157"/>
            <a:ext cx="2798978" cy="110459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0" y="0"/>
            <a:ext cx="12191695" cy="152705"/>
          </a:xfrm>
          <a:prstGeom prst="rect">
            <a:avLst/>
          </a:prstGeom>
          <a:solidFill>
            <a:srgbClr val="CF2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658600" y="6439205"/>
            <a:ext cx="228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61695"/>
            <a:ext cx="6067044" cy="518190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6057900" y="761695"/>
            <a:ext cx="9144" cy="51819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2102" y="1185977"/>
            <a:ext cx="5334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네트워킹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00507" y="1566367"/>
            <a:ext cx="5257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Old Way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003450" y="1986077"/>
            <a:ext cx="371155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"Leads are </a:t>
            </a:r>
            <a:pPr algn="l"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."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9407" y="1995221"/>
            <a:ext cx="866851" cy="2761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29407" y="1995221"/>
            <a:ext cx="86685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00507" y="2366467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BNI Global Power Team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3119933"/>
            <a:ext cx="381305" cy="381305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310" b="-1310"/>
          <a:stretch/>
        </p:blipFill>
        <p:spPr>
          <a:xfrm>
            <a:off x="543154" y="3224174"/>
            <a:ext cx="209398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90295" y="3184855"/>
            <a:ext cx="17684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불확실한 </a:t>
            </a:r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무작위 리드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3653028"/>
            <a:ext cx="381305" cy="381305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310" b="-1310"/>
          <a:stretch/>
        </p:blipFill>
        <p:spPr>
          <a:xfrm>
            <a:off x="543154" y="3758184"/>
            <a:ext cx="209398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90295" y="3717950"/>
            <a:ext cx="204642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신뢰와 </a:t>
            </a:r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일방적 관계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4186123"/>
            <a:ext cx="381305" cy="381305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62356" y="4291279"/>
            <a:ext cx="171907" cy="17190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90295" y="4251046"/>
            <a:ext cx="204642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전환율과 </a:t>
            </a:r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저조</a:t>
            </a:r>
            <a:endParaRPr lang="en-US" sz="13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rcRect l="0" r="0" t="0" b="0"/>
          <a:stretch/>
        </p:blipFill>
        <p:spPr>
          <a:xfrm>
            <a:off x="2740457" y="4948733"/>
            <a:ext cx="571500" cy="5715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062472" y="761695"/>
            <a:ext cx="6133795" cy="51819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7"/>
          <p:cNvSpPr/>
          <p:nvPr/>
        </p:nvSpPr>
        <p:spPr>
          <a:xfrm>
            <a:off x="6062472" y="761695"/>
            <a:ext cx="75895" cy="5181905"/>
          </a:xfrm>
          <a:prstGeom prst="rect">
            <a:avLst/>
          </a:prstGeom>
          <a:solidFill>
            <a:srgbClr val="CF2030"/>
          </a:solidFill>
          <a:ln w="12700">
            <a:solidFill>
              <a:srgbClr val="CF2030">
                <a:alpha val="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500470" y="1071677"/>
            <a:ext cx="5334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파워팀 시스템</a:t>
            </a:r>
            <a:endParaRPr lang="en-US" sz="22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087" y="1490472"/>
            <a:ext cx="1399946" cy="26700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70087" y="1490472"/>
            <a:ext cx="140086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Smart Way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7874813" y="1986077"/>
            <a:ext cx="397946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"Referrals are </a:t>
            </a:r>
            <a:pPr algn="l"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."</a:t>
            </a:r>
            <a:endParaRPr lang="en-US" sz="15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8747" y="1995221"/>
            <a:ext cx="1123798" cy="276149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178747" y="1995221"/>
            <a:ext cx="112471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Intentional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6538874" y="2366467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BNI Global Power Team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596482" y="3119933"/>
            <a:ext cx="381305" cy="38130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00723" y="3224174"/>
            <a:ext cx="171907" cy="171907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129577" y="3184855"/>
            <a:ext cx="239389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타겟이 명확한 </a:t>
            </a:r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의도적 리퍼럴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6596482" y="3653028"/>
            <a:ext cx="381305" cy="38130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310" b="-1310"/>
          <a:stretch/>
        </p:blipFill>
        <p:spPr>
          <a:xfrm>
            <a:off x="6681521" y="3758184"/>
            <a:ext cx="209398" cy="171907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7129577" y="3717950"/>
            <a:ext cx="273222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신뢰의 서클 (Trust Circle)</a:t>
            </a:r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6596482" y="4186123"/>
            <a:ext cx="381305" cy="38130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310" b="-1310"/>
          <a:stretch/>
        </p:blipFill>
        <p:spPr>
          <a:xfrm>
            <a:off x="6681521" y="4291279"/>
            <a:ext cx="209398" cy="171907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7129577" y="4251046"/>
            <a:ext cx="231983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협력</a:t>
            </a:r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기회 배가</a:t>
            </a:r>
            <a:endParaRPr lang="en-US" sz="13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rcRect l="-2" r="-2" t="0" b="0"/>
          <a:stretch/>
        </p:blipFill>
        <p:spPr>
          <a:xfrm>
            <a:off x="6596482" y="5177333"/>
            <a:ext cx="5138928" cy="457200"/>
          </a:xfrm>
          <a:prstGeom prst="rect">
            <a:avLst/>
          </a:prstGeom>
        </p:spPr>
      </p:pic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rcRect l="-400" r="-400" t="0" b="0"/>
          <a:stretch/>
        </p:blipFill>
        <p:spPr>
          <a:xfrm>
            <a:off x="6596482" y="5177333"/>
            <a:ext cx="57607" cy="457200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7092086" y="5405933"/>
            <a:ext cx="46104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파워팀의 힘</a:t>
            </a:r>
            <a:endParaRPr lang="en-US" sz="13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842" b="-842"/>
          <a:stretch/>
        </p:blipFill>
        <p:spPr>
          <a:xfrm>
            <a:off x="6825082" y="5465369"/>
            <a:ext cx="190195" cy="171907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6825082" y="5710428"/>
            <a:ext cx="47631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최소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4명의 비경쟁 비즈니스</a:t>
            </a:r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협력하여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서로의 이상적 고객을 공유하고 성장을 가속화합니다. </a:t>
            </a:r>
            <a:endParaRPr lang="en-US" sz="1000" dirty="0"/>
          </a:p>
        </p:txBody>
      </p:sp>
      <p:sp>
        <p:nvSpPr>
          <p:cNvPr id="46" name="Text 31"/>
          <p:cNvSpPr txBox="1"/>
          <p:nvPr/>
        </p:nvSpPr>
        <p:spPr>
          <a:xfrm>
            <a:off x="381305" y="304495"/>
            <a:ext cx="115443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POWER TEAM?</a:t>
            </a:r>
            <a:endParaRPr lang="en-US" sz="1300" dirty="0"/>
          </a:p>
        </p:txBody>
      </p:sp>
      <p:sp>
        <p:nvSpPr>
          <p:cNvPr id="47" name="Text 32"/>
          <p:cNvSpPr txBox="1"/>
          <p:nvPr/>
        </p:nvSpPr>
        <p:spPr>
          <a:xfrm>
            <a:off x="381305" y="609905"/>
            <a:ext cx="117354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무작위 리드 vs 의도적 리퍼럴</a:t>
            </a:r>
            <a:endParaRPr lang="en-US" sz="2700" dirty="0"/>
          </a:p>
        </p:txBody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0" y="3047695"/>
            <a:ext cx="761695" cy="761695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5715000" y="3047695"/>
            <a:ext cx="762610" cy="762610"/>
          </a:xfrm>
          <a:prstGeom prst="rect">
            <a:avLst/>
          </a:prstGeom>
          <a:solidFill>
            <a:srgbClr val="FFFFFF">
              <a:alpha val="0"/>
            </a:srgbClr>
          </a:solidFill>
          <a:ln w="508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2400" dirty="0"/>
          </a:p>
        </p:txBody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16"/>
          <a:srcRect l="-11" r="-11" t="0" b="0"/>
          <a:stretch/>
        </p:blipFill>
        <p:spPr>
          <a:xfrm>
            <a:off x="609905" y="5734202"/>
            <a:ext cx="10972800" cy="666598"/>
          </a:xfrm>
          <a:prstGeom prst="rect">
            <a:avLst/>
          </a:prstGeom>
        </p:spPr>
      </p:pic>
      <p:sp>
        <p:nvSpPr>
          <p:cNvPr id="52" name="Shape 34"/>
          <p:cNvSpPr/>
          <p:nvPr/>
        </p:nvSpPr>
        <p:spPr>
          <a:xfrm>
            <a:off x="923544" y="5876849"/>
            <a:ext cx="371246" cy="381305"/>
          </a:xfrm>
          <a:prstGeom prst="roundRect">
            <a:avLst>
              <a:gd name="adj" fmla="val 24630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5"/>
          <p:cNvSpPr txBox="1"/>
          <p:nvPr/>
        </p:nvSpPr>
        <p:spPr>
          <a:xfrm>
            <a:off x="1410005" y="5857646"/>
            <a:ext cx="22786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DATA</a:t>
            </a:r>
            <a:endParaRPr lang="en-US" sz="900" dirty="0"/>
          </a:p>
        </p:txBody>
      </p:sp>
      <p:sp>
        <p:nvSpPr>
          <p:cNvPr id="54" name="Text 36"/>
          <p:cNvSpPr txBox="1"/>
          <p:nvPr/>
        </p:nvSpPr>
        <p:spPr>
          <a:xfrm>
            <a:off x="1410005" y="6010351"/>
            <a:ext cx="22677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 평균 ROI: </a:t>
            </a:r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회원비의 2배 이상</a:t>
            </a:r>
            <a:endParaRPr lang="en-US" sz="1000" dirty="0"/>
          </a:p>
        </p:txBody>
      </p:sp>
      <p:pic>
        <p:nvPicPr>
          <p:cNvPr id="55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2029" b="-2029"/>
          <a:stretch/>
        </p:blipFill>
        <p:spPr>
          <a:xfrm>
            <a:off x="3747211" y="5915254"/>
            <a:ext cx="9144" cy="304495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3813962" y="5934456"/>
            <a:ext cx="72009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당신은 어느 쪽을 선택하시겠습니까?</a:t>
            </a:r>
            <a:endParaRPr lang="en-US" sz="1300" dirty="0"/>
          </a:p>
        </p:txBody>
      </p:sp>
      <p:pic>
        <p:nvPicPr>
          <p:cNvPr id="57" name="Image 17" descr="preencoded.png">    </p:cNvPr>
          <p:cNvPicPr>
            <a:picLocks noChangeAspect="1"/>
          </p:cNvPicPr>
          <p:nvPr/>
        </p:nvPicPr>
        <p:blipFill>
          <a:blip r:embed="rId18"/>
          <a:srcRect l="-1282" r="-1282" t="0" b="0"/>
          <a:stretch/>
        </p:blipFill>
        <p:spPr>
          <a:xfrm>
            <a:off x="1000354" y="5967374"/>
            <a:ext cx="219456" cy="190195"/>
          </a:xfrm>
          <a:prstGeom prst="rect">
            <a:avLst/>
          </a:prstGeom>
        </p:spPr>
      </p:pic>
      <p:pic>
        <p:nvPicPr>
          <p:cNvPr id="58" name="Image 18" descr="preencoded.png">    </p:cNvPr>
          <p:cNvPicPr>
            <a:picLocks noChangeAspect="1"/>
          </p:cNvPicPr>
          <p:nvPr/>
        </p:nvPicPr>
        <p:blipFill>
          <a:blip r:embed="rId19">
            <a:alphaModFix amt="62000"/>
          </a:blip>
          <a:srcRect l="-57" r="-57" t="0" b="0"/>
          <a:stretch/>
        </p:blipFill>
        <p:spPr>
          <a:xfrm>
            <a:off x="11067898" y="5943600"/>
            <a:ext cx="200254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05295" y="0"/>
            <a:ext cx="5486400" cy="6858000"/>
          </a:xfrm>
          <a:custGeom>
            <a:avLst/>
            <a:gdLst/>
            <a:ahLst/>
            <a:cxnLst/>
            <a:rect l="l" t="t" r="r" b="b"/>
            <a:pathLst>
              <a:path w="5486400" h="6858000">
                <a:moveTo>
                  <a:pt x="1371600" y="0"/>
                </a:moveTo>
                <a:lnTo>
                  <a:pt x="5486400" y="0"/>
                </a:lnTo>
                <a:lnTo>
                  <a:pt x="5486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0" y="6439205"/>
            <a:ext cx="228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1867205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5" y="1695298"/>
            <a:ext cx="10972800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9905" y="381305"/>
            <a:ext cx="31153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Statistical Evidence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685800"/>
            <a:ext cx="312084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RPI와 챕터 건강도의</a:t>
            </a:r>
            <a:pPr algn="l" indent="0" marL="0">
              <a:buNone/>
            </a:pP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강력한 상관관계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8163763" y="1276502"/>
            <a:ext cx="34207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"RPI는 챕터 건강도의 핵심 지표입니다"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018995"/>
            <a:ext cx="62106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통계적으로 검증된 4가지 핵심 지표 (p &lt; 0.05) 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905" y="2057400"/>
            <a:ext cx="190195" cy="19019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09905" y="6400800"/>
            <a:ext cx="6400800" cy="780898"/>
          </a:xfrm>
          <a:prstGeom prst="roundRect">
            <a:avLst>
              <a:gd name="adj" fmla="val 11424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1754" y="6601054"/>
            <a:ext cx="381305" cy="381305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-760" r="-760" t="0" b="0"/>
          <a:stretch/>
        </p:blipFill>
        <p:spPr>
          <a:xfrm>
            <a:off x="886054" y="6705295"/>
            <a:ext cx="152705" cy="17190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04849" y="6562649"/>
            <a:ext cx="246888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통계적 검증 완료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304849" y="6829654"/>
            <a:ext cx="27203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p-value 0.05 미만으로 신뢰도 95% 이상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3915461" y="6696151"/>
            <a:ext cx="2936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출처: BNI Korea 2025-26 Analysis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2" b="-12"/>
          <a:stretch/>
        </p:blipFill>
        <p:spPr>
          <a:xfrm>
            <a:off x="7315200" y="2018995"/>
            <a:ext cx="4267505" cy="9528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477049" y="2266798"/>
            <a:ext cx="31153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Strong Positive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7772400" y="2457907"/>
            <a:ext cx="28200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참가율 (Participation) 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-1064" r="-1064" t="0" b="0"/>
          <a:stretch/>
        </p:blipFill>
        <p:spPr>
          <a:xfrm>
            <a:off x="7477049" y="2505456"/>
            <a:ext cx="219456" cy="171907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8051" y="2180844"/>
            <a:ext cx="952805" cy="43799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468051" y="2180844"/>
            <a:ext cx="952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F20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+0.602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10392156" y="2657246"/>
            <a:ext cx="1028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 &lt; 0.001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2" b="-12"/>
          <a:stretch/>
        </p:blipFill>
        <p:spPr>
          <a:xfrm>
            <a:off x="7315200" y="3086100"/>
            <a:ext cx="4267505" cy="95280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477049" y="3333902"/>
            <a:ext cx="31153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Moderate Positive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7724851" y="3524098"/>
            <a:ext cx="28675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챕터 규모 (Size) </a:t>
            </a:r>
            <a:endParaRPr lang="en-US" sz="13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477049" y="3571646"/>
            <a:ext cx="171907" cy="171907"/>
          </a:xfrm>
          <a:prstGeom prst="rect">
            <a:avLst/>
          </a:prstGeom>
        </p:spPr>
      </p:pic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8051" y="3247949"/>
            <a:ext cx="952805" cy="43799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0468051" y="3247949"/>
            <a:ext cx="952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F20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+0.355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10392156" y="3724351"/>
            <a:ext cx="1028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 = 0.0012</a:t>
            </a:r>
            <a:endParaRPr lang="en-US" sz="9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2" b="-12"/>
          <a:stretch/>
        </p:blipFill>
        <p:spPr>
          <a:xfrm>
            <a:off x="7315200" y="4153205"/>
            <a:ext cx="4267505" cy="952805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477049" y="4401007"/>
            <a:ext cx="31153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Moderate Positive</a:t>
            </a:r>
            <a:endParaRPr lang="en-US" sz="900" dirty="0"/>
          </a:p>
        </p:txBody>
      </p:sp>
      <p:sp>
        <p:nvSpPr>
          <p:cNvPr id="35" name="Text 24"/>
          <p:cNvSpPr txBox="1"/>
          <p:nvPr/>
        </p:nvSpPr>
        <p:spPr>
          <a:xfrm>
            <a:off x="7744054" y="4591202"/>
            <a:ext cx="28483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멤버 유지율 (Retention) </a:t>
            </a:r>
            <a:endParaRPr lang="en-US" sz="13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842" b="-842"/>
          <a:stretch/>
        </p:blipFill>
        <p:spPr>
          <a:xfrm>
            <a:off x="7477049" y="4638751"/>
            <a:ext cx="190195" cy="171907"/>
          </a:xfrm>
          <a:prstGeom prst="rect">
            <a:avLst/>
          </a:prstGeom>
        </p:spPr>
      </p:pic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68051" y="4315054"/>
            <a:ext cx="952805" cy="43799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10468051" y="4315054"/>
            <a:ext cx="952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F20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+0.318</a:t>
            </a:r>
            <a:endParaRPr lang="en-US" sz="1500" dirty="0"/>
          </a:p>
        </p:txBody>
      </p:sp>
      <p:sp>
        <p:nvSpPr>
          <p:cNvPr id="39" name="Text 26"/>
          <p:cNvSpPr txBox="1"/>
          <p:nvPr/>
        </p:nvSpPr>
        <p:spPr>
          <a:xfrm>
            <a:off x="10392156" y="4791456"/>
            <a:ext cx="1028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 = 0.0041</a:t>
            </a:r>
            <a:endParaRPr lang="en-US" sz="9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2" b="-12"/>
          <a:stretch/>
        </p:blipFill>
        <p:spPr>
          <a:xfrm>
            <a:off x="7315200" y="5219395"/>
            <a:ext cx="4267505" cy="952805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7477049" y="5467198"/>
            <a:ext cx="31153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Weak Positive</a:t>
            </a:r>
            <a:endParaRPr lang="en-US" sz="900" dirty="0"/>
          </a:p>
        </p:txBody>
      </p:sp>
      <p:sp>
        <p:nvSpPr>
          <p:cNvPr id="42" name="Text 28"/>
          <p:cNvSpPr txBox="1"/>
          <p:nvPr/>
        </p:nvSpPr>
        <p:spPr>
          <a:xfrm>
            <a:off x="7772400" y="5658307"/>
            <a:ext cx="28200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방문자 활동 (Visitors) </a:t>
            </a:r>
            <a:endParaRPr lang="en-US" sz="13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rcRect l="-1064" r="-1064" t="0" b="0"/>
          <a:stretch/>
        </p:blipFill>
        <p:spPr>
          <a:xfrm>
            <a:off x="7477049" y="5705856"/>
            <a:ext cx="219456" cy="171907"/>
          </a:xfrm>
          <a:prstGeom prst="rect">
            <a:avLst/>
          </a:prstGeom>
        </p:spPr>
      </p:pic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68051" y="5381244"/>
            <a:ext cx="952805" cy="437998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10468051" y="5381244"/>
            <a:ext cx="952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F20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+0.231</a:t>
            </a:r>
            <a:endParaRPr lang="en-US" sz="1500" dirty="0"/>
          </a:p>
        </p:txBody>
      </p:sp>
      <p:sp>
        <p:nvSpPr>
          <p:cNvPr id="46" name="Text 30"/>
          <p:cNvSpPr txBox="1"/>
          <p:nvPr/>
        </p:nvSpPr>
        <p:spPr>
          <a:xfrm>
            <a:off x="10392156" y="5857646"/>
            <a:ext cx="1028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 = 0.0392</a:t>
            </a:r>
            <a:endParaRPr lang="en-US" sz="900" dirty="0"/>
          </a:p>
        </p:txBody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4" b="-4"/>
          <a:stretch/>
        </p:blipFill>
        <p:spPr>
          <a:xfrm>
            <a:off x="609905" y="2438705"/>
            <a:ext cx="6400800" cy="3810305"/>
          </a:xfrm>
          <a:prstGeom prst="rect">
            <a:avLst/>
          </a:prstGeom>
        </p:spPr>
      </p:pic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5" b="-5"/>
          <a:stretch/>
        </p:blipFill>
        <p:spPr>
          <a:xfrm>
            <a:off x="838505" y="2667305"/>
            <a:ext cx="5943600" cy="3353105"/>
          </a:xfrm>
          <a:prstGeom prst="rect">
            <a:avLst/>
          </a:prstGeom>
        </p:spPr>
      </p:pic>
      <p:sp>
        <p:nvSpPr>
          <p:cNvPr id="49" name="Shape 31"/>
          <p:cNvSpPr/>
          <p:nvPr/>
        </p:nvSpPr>
        <p:spPr>
          <a:xfrm>
            <a:off x="7315200" y="6172200"/>
            <a:ext cx="4267505" cy="1200607"/>
          </a:xfrm>
          <a:prstGeom prst="roundRect">
            <a:avLst>
              <a:gd name="adj" fmla="val 7253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32"/>
          <p:cNvSpPr/>
          <p:nvPr/>
        </p:nvSpPr>
        <p:spPr>
          <a:xfrm>
            <a:off x="7315200" y="6172200"/>
            <a:ext cx="47549" cy="1195121"/>
          </a:xfrm>
          <a:prstGeom prst="rect">
            <a:avLst/>
          </a:prstGeom>
          <a:solidFill>
            <a:srgbClr val="CF2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16" descr="preencoded.png">    </p:cNvPr>
          <p:cNvPicPr>
            <a:picLocks noChangeAspect="1"/>
          </p:cNvPicPr>
          <p:nvPr/>
        </p:nvPicPr>
        <p:blipFill>
          <a:blip r:embed="rId17"/>
          <a:srcRect l="-133" r="-133" t="0" b="0"/>
          <a:stretch/>
        </p:blipFill>
        <p:spPr>
          <a:xfrm>
            <a:off x="7543800" y="6439205"/>
            <a:ext cx="171907" cy="22860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7867498" y="6400800"/>
            <a:ext cx="36009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53" name="Text 34"/>
          <p:cNvSpPr txBox="1"/>
          <p:nvPr/>
        </p:nvSpPr>
        <p:spPr>
          <a:xfrm>
            <a:off x="7867498" y="6705295"/>
            <a:ext cx="35625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"RPI는 단순한 숫자가 아닙니다. </a:t>
            </a:r>
            <a:pPr algn="l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RPI가 높을수록 챕터가 더 크고, 더 안정적이며, 더 매력적임</a:t>
            </a:r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데이터로 증명되었습니다." </a:t>
            </a:r>
            <a:endParaRPr lang="en-US" sz="1000" dirty="0"/>
          </a:p>
        </p:txBody>
      </p:sp>
      <p:pic>
        <p:nvPicPr>
          <p:cNvPr id="54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0" y="6439205"/>
            <a:ext cx="228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3149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219810"/>
            <a:ext cx="10972800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9905" y="381305"/>
            <a:ext cx="72201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COMPARISON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685800"/>
            <a:ext cx="7886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 25% vs BOTTOM 25%: 데이터로 본 차이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7943393" y="800100"/>
            <a:ext cx="364754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RPI 상위 챕터는 모든 지표에서 우수합니다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905" y="1466698"/>
            <a:ext cx="3457346" cy="2438705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9049" y="1476756"/>
            <a:ext cx="3438144" cy="771754"/>
          </a:xfrm>
          <a:prstGeom prst="roundRect">
            <a:avLst>
              <a:gd name="adj" fmla="val 17553"/>
            </a:avLst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4146" y="1628546"/>
            <a:ext cx="32488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RPI 챕터 (하위 25%)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049" y="2812694"/>
            <a:ext cx="3438144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7649" y="2455164"/>
            <a:ext cx="102229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챕터 규모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259836" y="2421331"/>
            <a:ext cx="65836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35.6명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049" y="3324758"/>
            <a:ext cx="3438144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7649" y="2968142"/>
            <a:ext cx="795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멤버 유지율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247949" y="2933395"/>
            <a:ext cx="6574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62.4%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7649" y="3480206"/>
            <a:ext cx="79644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방문자/멤버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259836" y="3446374"/>
            <a:ext cx="65836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1.25명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4146" y="1941271"/>
            <a:ext cx="32488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RPI ≤ 0.22</a:t>
            </a:r>
            <a:endParaRPr lang="en-US" sz="9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4369003" y="1000354"/>
            <a:ext cx="3453689" cy="104790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435754" y="1162202"/>
            <a:ext cx="33247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챕터 규모 차이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4474159" y="1352398"/>
            <a:ext cx="32488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+24%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4435754" y="1733702"/>
            <a:ext cx="33247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큰 규모</a:t>
            </a:r>
            <a:endParaRPr lang="en-US" sz="9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" b="-8"/>
          <a:stretch/>
        </p:blipFill>
        <p:spPr>
          <a:xfrm>
            <a:off x="4369003" y="2162556"/>
            <a:ext cx="3453689" cy="104790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4435754" y="2324405"/>
            <a:ext cx="33247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유지율 차이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4474159" y="2514600"/>
            <a:ext cx="32488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+19%</a:t>
            </a:r>
            <a:endParaRPr lang="en-US" sz="2200" dirty="0"/>
          </a:p>
        </p:txBody>
      </p:sp>
      <p:sp>
        <p:nvSpPr>
          <p:cNvPr id="29" name="Text 25"/>
          <p:cNvSpPr txBox="1"/>
          <p:nvPr/>
        </p:nvSpPr>
        <p:spPr>
          <a:xfrm>
            <a:off x="4435754" y="2895905"/>
            <a:ext cx="33247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높은 안정성</a:t>
            </a:r>
            <a:endParaRPr lang="en-US" sz="9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4369003" y="3323844"/>
            <a:ext cx="3453689" cy="104790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4435754" y="3486607"/>
            <a:ext cx="33247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방문자 활동 차이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4474159" y="3676802"/>
            <a:ext cx="32488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+30%</a:t>
            </a:r>
            <a:endParaRPr lang="en-US" sz="2200" dirty="0"/>
          </a:p>
        </p:txBody>
      </p:sp>
      <p:sp>
        <p:nvSpPr>
          <p:cNvPr id="33" name="Text 28"/>
          <p:cNvSpPr txBox="1"/>
          <p:nvPr/>
        </p:nvSpPr>
        <p:spPr>
          <a:xfrm>
            <a:off x="4435754" y="4058107"/>
            <a:ext cx="33247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많은 기회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8128102" y="1466698"/>
            <a:ext cx="3457346" cy="2438705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8051292" y="1415491"/>
            <a:ext cx="3610051" cy="809244"/>
          </a:xfrm>
          <a:prstGeom prst="roundRect">
            <a:avLst>
              <a:gd name="adj" fmla="val 15952"/>
            </a:avLst>
          </a:prstGeom>
          <a:solidFill>
            <a:srgbClr val="CF2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8153705" y="1575511"/>
            <a:ext cx="34107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RPI 챕터 (상위 25%)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8051292" y="2223821"/>
            <a:ext cx="3610051" cy="1733702"/>
          </a:xfrm>
          <a:prstGeom prst="roundRect">
            <a:avLst>
              <a:gd name="adj" fmla="val 3478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051292" y="2821838"/>
            <a:ext cx="3610051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290865" y="2444191"/>
            <a:ext cx="1025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챕터 규모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10823753" y="2407615"/>
            <a:ext cx="6766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44.3명</a:t>
            </a:r>
            <a:endParaRPr lang="en-US" sz="1400" dirty="0"/>
          </a:p>
        </p:txBody>
      </p:sp>
      <p:sp>
        <p:nvSpPr>
          <p:cNvPr id="41" name="Shape 36"/>
          <p:cNvSpPr/>
          <p:nvPr/>
        </p:nvSpPr>
        <p:spPr>
          <a:xfrm>
            <a:off x="8051292" y="3360420"/>
            <a:ext cx="3610051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8290865" y="2981858"/>
            <a:ext cx="7973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멤버 유지율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10810951" y="2946197"/>
            <a:ext cx="6858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74.4%</a:t>
            </a:r>
            <a:endParaRPr lang="en-US" sz="1400" dirty="0"/>
          </a:p>
        </p:txBody>
      </p:sp>
      <p:sp>
        <p:nvSpPr>
          <p:cNvPr id="44" name="Text 39"/>
          <p:cNvSpPr txBox="1"/>
          <p:nvPr/>
        </p:nvSpPr>
        <p:spPr>
          <a:xfrm>
            <a:off x="8290865" y="3520440"/>
            <a:ext cx="80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방문자/멤버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10823753" y="3483864"/>
            <a:ext cx="6766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1.63명</a:t>
            </a:r>
            <a:endParaRPr lang="en-US" sz="1400" dirty="0"/>
          </a:p>
        </p:txBody>
      </p:sp>
      <p:sp>
        <p:nvSpPr>
          <p:cNvPr id="46" name="Text 41"/>
          <p:cNvSpPr txBox="1"/>
          <p:nvPr/>
        </p:nvSpPr>
        <p:spPr>
          <a:xfrm>
            <a:off x="8153705" y="1903781"/>
            <a:ext cx="3410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RPI ≥ 0.91</a:t>
            </a:r>
            <a:endParaRPr lang="en-US" sz="900" dirty="0"/>
          </a:p>
        </p:txBody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9" b="-9"/>
          <a:stretch/>
        </p:blipFill>
        <p:spPr>
          <a:xfrm>
            <a:off x="609905" y="4134002"/>
            <a:ext cx="10972800" cy="2572207"/>
          </a:xfrm>
          <a:prstGeom prst="rect">
            <a:avLst/>
          </a:prstGeom>
        </p:spPr>
      </p:pic>
      <p:sp>
        <p:nvSpPr>
          <p:cNvPr id="48" name="Shape 42"/>
          <p:cNvSpPr/>
          <p:nvPr/>
        </p:nvSpPr>
        <p:spPr>
          <a:xfrm>
            <a:off x="771754" y="4295851"/>
            <a:ext cx="38405" cy="2286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924458" y="4295851"/>
            <a:ext cx="106875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메커니즘: 데이터가 보여주는 흐름</a:t>
            </a:r>
            <a:endParaRPr 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4642409" y="5857646"/>
            <a:ext cx="69695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 데이터는 통계적으로 유의미한 차이입니다 (p &lt; 0.05) </a:t>
            </a:r>
            <a:endParaRPr lang="en-US" sz="1000" dirty="0"/>
          </a:p>
        </p:txBody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33926" y="5893308"/>
            <a:ext cx="133502" cy="133502"/>
          </a:xfrm>
          <a:prstGeom prst="rect">
            <a:avLst/>
          </a:prstGeom>
        </p:spPr>
      </p:pic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rcRect l="-404" r="-404" t="0" b="0"/>
          <a:stretch/>
        </p:blipFill>
        <p:spPr>
          <a:xfrm>
            <a:off x="1057046" y="4886554"/>
            <a:ext cx="10077602" cy="28346"/>
          </a:xfrm>
          <a:prstGeom prst="rect">
            <a:avLst/>
          </a:prstGeom>
        </p:spPr>
      </p:pic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57046" y="4677156"/>
            <a:ext cx="571500" cy="571500"/>
          </a:xfrm>
          <a:prstGeom prst="rect">
            <a:avLst/>
          </a:prstGeom>
        </p:spPr>
      </p:pic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238098" y="4858207"/>
            <a:ext cx="209398" cy="209398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1041502" y="5324551"/>
            <a:ext cx="685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RPI</a:t>
            </a:r>
            <a:endParaRPr lang="en-US" sz="1000" dirty="0"/>
          </a:p>
        </p:txBody>
      </p:sp>
      <p:sp>
        <p:nvSpPr>
          <p:cNvPr id="56" name="Text 46"/>
          <p:cNvSpPr txBox="1"/>
          <p:nvPr/>
        </p:nvSpPr>
        <p:spPr>
          <a:xfrm>
            <a:off x="1064362" y="5553151"/>
            <a:ext cx="6629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활동성</a:t>
            </a:r>
            <a:endParaRPr lang="en-US" sz="900" dirty="0"/>
          </a:p>
        </p:txBody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433572" y="4677156"/>
            <a:ext cx="571500" cy="571500"/>
          </a:xfrm>
          <a:prstGeom prst="rect">
            <a:avLst/>
          </a:prstGeom>
        </p:spPr>
      </p:pic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rcRect l="-1004" r="-1004" t="0" b="0"/>
          <a:stretch/>
        </p:blipFill>
        <p:spPr>
          <a:xfrm>
            <a:off x="3586277" y="4858207"/>
            <a:ext cx="267005" cy="209398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3516782" y="5324551"/>
            <a:ext cx="5129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큰 챕터</a:t>
            </a:r>
            <a:endParaRPr lang="en-US" sz="1000" dirty="0"/>
          </a:p>
        </p:txBody>
      </p:sp>
      <p:sp>
        <p:nvSpPr>
          <p:cNvPr id="60" name="Text 48"/>
          <p:cNvSpPr txBox="1"/>
          <p:nvPr/>
        </p:nvSpPr>
        <p:spPr>
          <a:xfrm>
            <a:off x="3493008" y="5553151"/>
            <a:ext cx="54406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규모 확대</a:t>
            </a:r>
            <a:endParaRPr lang="en-US" sz="900" dirty="0"/>
          </a:p>
        </p:txBody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810098" y="4677156"/>
            <a:ext cx="571500" cy="571500"/>
          </a:xfrm>
          <a:prstGeom prst="rect">
            <a:avLst/>
          </a:prstGeom>
        </p:spPr>
      </p:pic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991149" y="4858207"/>
            <a:ext cx="209398" cy="209398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5770778" y="5324551"/>
            <a:ext cx="797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유지율</a:t>
            </a:r>
            <a:endParaRPr lang="en-US" sz="1000" dirty="0"/>
          </a:p>
        </p:txBody>
      </p:sp>
      <p:sp>
        <p:nvSpPr>
          <p:cNvPr id="64" name="Text 50"/>
          <p:cNvSpPr txBox="1"/>
          <p:nvPr/>
        </p:nvSpPr>
        <p:spPr>
          <a:xfrm>
            <a:off x="5817413" y="5553151"/>
            <a:ext cx="6629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안정화</a:t>
            </a:r>
            <a:endParaRPr lang="en-US" sz="900" dirty="0"/>
          </a:p>
        </p:txBody>
      </p:sp>
      <p:pic>
        <p:nvPicPr>
          <p:cNvPr id="6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186623" y="4677156"/>
            <a:ext cx="571500" cy="571500"/>
          </a:xfrm>
          <a:prstGeom prst="rect">
            <a:avLst/>
          </a:prstGeom>
        </p:spPr>
      </p:pic>
      <p:pic>
        <p:nvPicPr>
          <p:cNvPr id="66" name="Image 13" descr="preencoded.png">    </p:cNvPr>
          <p:cNvPicPr>
            <a:picLocks noChangeAspect="1"/>
          </p:cNvPicPr>
          <p:nvPr/>
        </p:nvPicPr>
        <p:blipFill>
          <a:blip r:embed="rId14"/>
          <a:srcRect l="-461" r="-461" t="0" b="0"/>
          <a:stretch/>
        </p:blipFill>
        <p:spPr>
          <a:xfrm>
            <a:off x="8353044" y="4858207"/>
            <a:ext cx="237744" cy="209398"/>
          </a:xfrm>
          <a:prstGeom prst="rect">
            <a:avLst/>
          </a:prstGeom>
        </p:spPr>
      </p:pic>
      <p:sp>
        <p:nvSpPr>
          <p:cNvPr id="67" name="Text 51"/>
          <p:cNvSpPr txBox="1"/>
          <p:nvPr/>
        </p:nvSpPr>
        <p:spPr>
          <a:xfrm>
            <a:off x="8147304" y="5324551"/>
            <a:ext cx="797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많은 방문자</a:t>
            </a:r>
            <a:endParaRPr lang="en-US" sz="1000" dirty="0"/>
          </a:p>
        </p:txBody>
      </p:sp>
      <p:sp>
        <p:nvSpPr>
          <p:cNvPr id="68" name="Text 52"/>
          <p:cNvSpPr txBox="1"/>
          <p:nvPr/>
        </p:nvSpPr>
        <p:spPr>
          <a:xfrm>
            <a:off x="8125358" y="5553151"/>
            <a:ext cx="8513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유입 증가</a:t>
            </a:r>
            <a:endParaRPr lang="en-US" sz="900" dirty="0"/>
          </a:p>
        </p:txBody>
      </p:sp>
      <p:pic>
        <p:nvPicPr>
          <p:cNvPr id="6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0563149" y="4677156"/>
            <a:ext cx="571500" cy="571500"/>
          </a:xfrm>
          <a:prstGeom prst="rect">
            <a:avLst/>
          </a:prstGeom>
        </p:spPr>
      </p:pic>
      <p:pic>
        <p:nvPicPr>
          <p:cNvPr id="70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0744200" y="4858207"/>
            <a:ext cx="209398" cy="209398"/>
          </a:xfrm>
          <a:prstGeom prst="rect">
            <a:avLst/>
          </a:prstGeom>
        </p:spPr>
      </p:pic>
      <p:sp>
        <p:nvSpPr>
          <p:cNvPr id="71" name="Text 53"/>
          <p:cNvSpPr txBox="1"/>
          <p:nvPr/>
        </p:nvSpPr>
        <p:spPr>
          <a:xfrm>
            <a:off x="10585094" y="5324551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성장</a:t>
            </a:r>
            <a:endParaRPr lang="en-US" sz="1000" dirty="0"/>
          </a:p>
        </p:txBody>
      </p:sp>
      <p:sp>
        <p:nvSpPr>
          <p:cNvPr id="72" name="Text 54"/>
          <p:cNvSpPr txBox="1"/>
          <p:nvPr/>
        </p:nvSpPr>
        <p:spPr>
          <a:xfrm>
            <a:off x="10570464" y="5553151"/>
            <a:ext cx="6629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장기적 성공</a:t>
            </a:r>
            <a:endParaRPr lang="en-US" sz="900" dirty="0"/>
          </a:p>
        </p:txBody>
      </p:sp>
      <p:pic>
        <p:nvPicPr>
          <p:cNvPr id="73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0" y="6439205"/>
            <a:ext cx="228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139080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5" y="1219810"/>
            <a:ext cx="10972800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9905" y="381305"/>
            <a:ext cx="4629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STATISTICAL EVIDENCE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685800"/>
            <a:ext cx="640720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통계적 증거: 데이터가 말합니다</a:t>
            </a:r>
            <a:endParaRPr lang="en-US" sz="2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2462" y="724205"/>
            <a:ext cx="2866644" cy="3429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22969" y="724205"/>
            <a:ext cx="2467051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 &lt; 0.05 = 통계적으로 유의미함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75166" y="821131"/>
            <a:ext cx="171907" cy="1719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4807" y="1695298"/>
            <a:ext cx="11163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4개의 핵심 지표</a:t>
            </a:r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통계적으로 검증된 </a:t>
            </a:r>
            <a:pPr algn="ctr"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긍정적 상관관계</a:t>
            </a:r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발견되었습니다. 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09905" y="5608015"/>
            <a:ext cx="10972800" cy="1181405"/>
          </a:xfrm>
          <a:prstGeom prst="roundRect">
            <a:avLst>
              <a:gd name="adj" fmla="val 749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8505" y="5836615"/>
            <a:ext cx="14246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Correlation (0)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3519526" y="5836615"/>
            <a:ext cx="8668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Weak (+0.2)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5658307" y="5836615"/>
            <a:ext cx="11859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Moderate (+0.4)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8113471" y="5836615"/>
            <a:ext cx="10268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Strong (+0.6)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0410444" y="5836615"/>
            <a:ext cx="110459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Perfect (+1.0)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5614416" y="6408115"/>
            <a:ext cx="59307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지표의 상관계수 위치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09905" y="6789420"/>
            <a:ext cx="10972800" cy="914400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14400" y="7018020"/>
            <a:ext cx="418795" cy="457200"/>
          </a:xfrm>
          <a:prstGeom prst="roundRect">
            <a:avLst>
              <a:gd name="adj" fmla="val 218341"/>
            </a:avLst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485900" y="7018020"/>
            <a:ext cx="6001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결론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485900" y="7285025"/>
            <a:ext cx="70079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RPI는 단순한 활동 지수가 아닙니다.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챕터의 건강도(Health)</a:t>
            </a:r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측정하는 가장 신뢰할 수 있는 지표입니다. 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9268358" y="7170725"/>
            <a:ext cx="201808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Analysis based on 2025-26 Data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429707" y="6418174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8700" y="7146950"/>
            <a:ext cx="190195" cy="190195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-8" r="-8" t="0" b="0"/>
          <a:stretch/>
        </p:blipFill>
        <p:spPr>
          <a:xfrm>
            <a:off x="609905" y="2419502"/>
            <a:ext cx="2572207" cy="257952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609344" y="2704795"/>
            <a:ext cx="571500" cy="57150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1752905" y="2876702"/>
            <a:ext cx="286207" cy="2286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135685" y="3429000"/>
            <a:ext cx="15215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+0.602</a:t>
            </a:r>
            <a:endParaRPr lang="en-US" sz="3000" dirty="0"/>
          </a:p>
        </p:txBody>
      </p:sp>
      <p:sp>
        <p:nvSpPr>
          <p:cNvPr id="32" name="Text 25"/>
          <p:cNvSpPr txBox="1"/>
          <p:nvPr/>
        </p:nvSpPr>
        <p:spPr>
          <a:xfrm>
            <a:off x="879653" y="3847795"/>
            <a:ext cx="20409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참가율 (Participation)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1171346" y="4176065"/>
            <a:ext cx="14511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강한 긍정적 상관관계</a:t>
            </a:r>
            <a:endParaRPr lang="en-US" sz="10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0472" y="4480560"/>
            <a:ext cx="809244" cy="295351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490472" y="4480560"/>
            <a:ext cx="810158" cy="29535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 &lt; 0.001</a:t>
            </a:r>
            <a:endParaRPr lang="en-US" sz="10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-8" r="-8" t="0" b="0"/>
          <a:stretch/>
        </p:blipFill>
        <p:spPr>
          <a:xfrm>
            <a:off x="3409798" y="2419502"/>
            <a:ext cx="2572207" cy="2579522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4410151" y="2704795"/>
            <a:ext cx="571500" cy="5715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81144" y="2876702"/>
            <a:ext cx="228600" cy="2286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3935578" y="3429000"/>
            <a:ext cx="15215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+0.355</a:t>
            </a:r>
            <a:endParaRPr lang="en-US" sz="3000" dirty="0"/>
          </a:p>
        </p:txBody>
      </p:sp>
      <p:sp>
        <p:nvSpPr>
          <p:cNvPr id="40" name="Text 30"/>
          <p:cNvSpPr txBox="1"/>
          <p:nvPr/>
        </p:nvSpPr>
        <p:spPr>
          <a:xfrm>
            <a:off x="3996842" y="3847795"/>
            <a:ext cx="140634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챕터 규모 (Size)</a:t>
            </a:r>
            <a:endParaRPr lang="en-US" sz="1300" dirty="0"/>
          </a:p>
        </p:txBody>
      </p:sp>
      <p:sp>
        <p:nvSpPr>
          <p:cNvPr id="41" name="Text 31"/>
          <p:cNvSpPr txBox="1"/>
          <p:nvPr/>
        </p:nvSpPr>
        <p:spPr>
          <a:xfrm>
            <a:off x="3971239" y="4176065"/>
            <a:ext cx="14511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긍정적 상관관계</a:t>
            </a:r>
            <a:endParaRPr lang="en-US" sz="10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3789" y="4480560"/>
            <a:ext cx="886054" cy="295351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253789" y="4480560"/>
            <a:ext cx="886054" cy="29535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 = 0.0012</a:t>
            </a:r>
            <a:endParaRPr lang="en-US" sz="10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rcRect l="-8" r="-8" t="0" b="0"/>
          <a:stretch/>
        </p:blipFill>
        <p:spPr>
          <a:xfrm>
            <a:off x="6210605" y="2419502"/>
            <a:ext cx="2572207" cy="2579522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7210044" y="2704795"/>
            <a:ext cx="571500" cy="5715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5" b="-45"/>
          <a:stretch/>
        </p:blipFill>
        <p:spPr>
          <a:xfrm>
            <a:off x="7367321" y="2876702"/>
            <a:ext cx="256946" cy="228600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6736385" y="3429000"/>
            <a:ext cx="15215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+0.318</a:t>
            </a:r>
            <a:endParaRPr lang="en-US" sz="3000" dirty="0"/>
          </a:p>
        </p:txBody>
      </p:sp>
      <p:sp>
        <p:nvSpPr>
          <p:cNvPr id="48" name="Text 35"/>
          <p:cNvSpPr txBox="1"/>
          <p:nvPr/>
        </p:nvSpPr>
        <p:spPr>
          <a:xfrm>
            <a:off x="6422746" y="3847795"/>
            <a:ext cx="21543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멤버 유지율 (Retention)</a:t>
            </a:r>
            <a:endParaRPr lang="en-US" sz="1300" dirty="0"/>
          </a:p>
        </p:txBody>
      </p:sp>
      <p:sp>
        <p:nvSpPr>
          <p:cNvPr id="49" name="Text 36"/>
          <p:cNvSpPr txBox="1"/>
          <p:nvPr/>
        </p:nvSpPr>
        <p:spPr>
          <a:xfrm>
            <a:off x="6772046" y="4176065"/>
            <a:ext cx="14511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긍정적 상관관계</a:t>
            </a:r>
            <a:endParaRPr lang="en-US" sz="100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54596" y="4480560"/>
            <a:ext cx="886054" cy="295351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7054596" y="4480560"/>
            <a:ext cx="886054" cy="29535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 = 0.0041</a:t>
            </a:r>
            <a:endParaRPr lang="en-US" sz="1000" dirty="0"/>
          </a:p>
        </p:txBody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rcRect l="-8" r="-8" t="0" b="0"/>
          <a:stretch/>
        </p:blipFill>
        <p:spPr>
          <a:xfrm>
            <a:off x="9010498" y="2419502"/>
            <a:ext cx="2572207" cy="2579522"/>
          </a:xfrm>
          <a:prstGeom prst="rect">
            <a:avLst/>
          </a:prstGeom>
        </p:spPr>
      </p:pic>
      <p:sp>
        <p:nvSpPr>
          <p:cNvPr id="53" name="Shape 38"/>
          <p:cNvSpPr/>
          <p:nvPr/>
        </p:nvSpPr>
        <p:spPr>
          <a:xfrm>
            <a:off x="10010851" y="2704795"/>
            <a:ext cx="571500" cy="5715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/>
          <a:srcRect l="-80" r="-80" t="0" b="0"/>
          <a:stretch/>
        </p:blipFill>
        <p:spPr>
          <a:xfrm>
            <a:off x="10153498" y="2876702"/>
            <a:ext cx="286207" cy="228600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9536278" y="3429000"/>
            <a:ext cx="15215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+0.231</a:t>
            </a:r>
            <a:endParaRPr lang="en-US" sz="3000" dirty="0"/>
          </a:p>
        </p:txBody>
      </p:sp>
      <p:sp>
        <p:nvSpPr>
          <p:cNvPr id="56" name="Text 40"/>
          <p:cNvSpPr txBox="1"/>
          <p:nvPr/>
        </p:nvSpPr>
        <p:spPr>
          <a:xfrm>
            <a:off x="9340596" y="3847795"/>
            <a:ext cx="19156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방문자 활동 (Visitors)</a:t>
            </a:r>
            <a:endParaRPr lang="en-US" sz="1300" dirty="0"/>
          </a:p>
        </p:txBody>
      </p:sp>
      <p:sp>
        <p:nvSpPr>
          <p:cNvPr id="57" name="Text 41"/>
          <p:cNvSpPr txBox="1"/>
          <p:nvPr/>
        </p:nvSpPr>
        <p:spPr>
          <a:xfrm>
            <a:off x="9571939" y="4176065"/>
            <a:ext cx="14511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약한 긍정적 상관관계</a:t>
            </a:r>
            <a:endParaRPr lang="en-US" sz="1000" dirty="0"/>
          </a:p>
        </p:txBody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54489" y="4480560"/>
            <a:ext cx="886054" cy="295351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9854489" y="4480560"/>
            <a:ext cx="886054" cy="29535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 = 0.0392</a:t>
            </a:r>
            <a:endParaRPr lang="en-US" sz="1000" dirty="0"/>
          </a:p>
        </p:txBody>
      </p:sp>
      <p:pic>
        <p:nvPicPr>
          <p:cNvPr id="60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838505" y="6217920"/>
            <a:ext cx="10515600" cy="114300"/>
          </a:xfrm>
          <a:prstGeom prst="rect">
            <a:avLst/>
          </a:prstGeom>
        </p:spPr>
      </p:pic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>
            <a:alphaModFix amt="20000"/>
          </a:blip>
          <a:srcRect l="0" r="0" t="0" b="0"/>
          <a:stretch/>
        </p:blipFill>
        <p:spPr>
          <a:xfrm>
            <a:off x="838505" y="6217920"/>
            <a:ext cx="10515600" cy="114300"/>
          </a:xfrm>
          <a:prstGeom prst="rect">
            <a:avLst/>
          </a:prstGeom>
        </p:spPr>
      </p:pic>
      <p:pic>
        <p:nvPicPr>
          <p:cNvPr id="62" name="Image 17" descr="preencoded.png">    </p:cNvPr>
          <p:cNvPicPr>
            <a:picLocks noChangeAspect="1"/>
          </p:cNvPicPr>
          <p:nvPr/>
        </p:nvPicPr>
        <p:blipFill>
          <a:blip r:embed="rId18">
            <a:alphaModFix amt="80000"/>
          </a:blip>
          <a:srcRect l="-1" r="-1" t="0" b="0"/>
          <a:stretch/>
        </p:blipFill>
        <p:spPr>
          <a:xfrm>
            <a:off x="7147865" y="6217920"/>
            <a:ext cx="4206240" cy="114300"/>
          </a:xfrm>
          <a:prstGeom prst="rect">
            <a:avLst/>
          </a:prstGeom>
        </p:spPr>
      </p:pic>
      <p:pic>
        <p:nvPicPr>
          <p:cNvPr id="63" name="Image 18" descr="preencoded.png">    </p:cNvPr>
          <p:cNvPicPr>
            <a:picLocks noChangeAspect="1"/>
          </p:cNvPicPr>
          <p:nvPr/>
        </p:nvPicPr>
        <p:blipFill>
          <a:blip r:embed="rId19"/>
          <a:srcRect l="-343" r="-343" t="0" b="0"/>
          <a:stretch/>
        </p:blipFill>
        <p:spPr>
          <a:xfrm>
            <a:off x="3257093" y="6142025"/>
            <a:ext cx="38405" cy="267005"/>
          </a:xfrm>
          <a:prstGeom prst="rect">
            <a:avLst/>
          </a:prstGeom>
        </p:spPr>
      </p:pic>
      <p:pic>
        <p:nvPicPr>
          <p:cNvPr id="64" name="Image 19" descr="preencoded.png">    </p:cNvPr>
          <p:cNvPicPr>
            <a:picLocks noChangeAspect="1"/>
          </p:cNvPicPr>
          <p:nvPr/>
        </p:nvPicPr>
        <p:blipFill>
          <a:blip r:embed="rId20"/>
          <a:srcRect l="-343" r="-343" t="0" b="0"/>
          <a:stretch/>
        </p:blipFill>
        <p:spPr>
          <a:xfrm>
            <a:off x="4203497" y="6142025"/>
            <a:ext cx="38405" cy="267005"/>
          </a:xfrm>
          <a:prstGeom prst="rect">
            <a:avLst/>
          </a:prstGeom>
        </p:spPr>
      </p:pic>
      <p:pic>
        <p:nvPicPr>
          <p:cNvPr id="65" name="Image 20" descr="preencoded.png">    </p:cNvPr>
          <p:cNvPicPr>
            <a:picLocks noChangeAspect="1"/>
          </p:cNvPicPr>
          <p:nvPr/>
        </p:nvPicPr>
        <p:blipFill>
          <a:blip r:embed="rId21"/>
          <a:srcRect l="-343" r="-343" t="0" b="0"/>
          <a:stretch/>
        </p:blipFill>
        <p:spPr>
          <a:xfrm>
            <a:off x="4518965" y="6142025"/>
            <a:ext cx="38405" cy="267005"/>
          </a:xfrm>
          <a:prstGeom prst="rect">
            <a:avLst/>
          </a:prstGeom>
        </p:spPr>
      </p:pic>
      <p:pic>
        <p:nvPicPr>
          <p:cNvPr id="66" name="Image 21" descr="preencoded.png">    </p:cNvPr>
          <p:cNvPicPr>
            <a:picLocks noChangeAspect="1"/>
          </p:cNvPicPr>
          <p:nvPr/>
        </p:nvPicPr>
        <p:blipFill>
          <a:blip r:embed="rId22"/>
          <a:srcRect l="-400" r="-400" t="0" b="0"/>
          <a:stretch/>
        </p:blipFill>
        <p:spPr>
          <a:xfrm>
            <a:off x="7147865" y="6103620"/>
            <a:ext cx="57607" cy="342900"/>
          </a:xfrm>
          <a:prstGeom prst="rect">
            <a:avLst/>
          </a:prstGeom>
        </p:spPr>
      </p:pic>
      <p:pic>
        <p:nvPicPr>
          <p:cNvPr id="67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96805" y="190195"/>
            <a:ext cx="1904695" cy="1904695"/>
          </a:xfrm>
          <a:prstGeom prst="rect">
            <a:avLst/>
          </a:prstGeom>
          <a:solidFill>
            <a:srgbClr val="E5E7E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953305"/>
            <a:ext cx="2857500" cy="2857500"/>
          </a:xfrm>
          <a:prstGeom prst="ellipse">
            <a:avLst/>
          </a:prstGeom>
          <a:noFill/>
          <a:ln w="508000">
            <a:solidFill>
              <a:srgbClr val="F9FA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0" y="6439205"/>
            <a:ext cx="228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9905" y="1295705"/>
            <a:ext cx="10972800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9905" y="381305"/>
            <a:ext cx="7677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START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685800"/>
            <a:ext cx="10340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복잡하지 않습니다. 3분이면 충분합니다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266176" y="875995"/>
            <a:ext cx="33229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누구나 쉽게 시작하는 3단계 가이드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0" b="-30"/>
          <a:stretch/>
        </p:blipFill>
        <p:spPr>
          <a:xfrm>
            <a:off x="4038905" y="3373222"/>
            <a:ext cx="190195" cy="304495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0" b="-30"/>
          <a:stretch/>
        </p:blipFill>
        <p:spPr>
          <a:xfrm>
            <a:off x="7962595" y="3373222"/>
            <a:ext cx="190195" cy="304495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9" r="-9" t="0" b="0"/>
          <a:stretch/>
        </p:blipFill>
        <p:spPr>
          <a:xfrm>
            <a:off x="609905" y="1849831"/>
            <a:ext cx="3124505" cy="36191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76326" y="1677924"/>
            <a:ext cx="1019556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6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549" y="4390949"/>
            <a:ext cx="1962302" cy="28620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90549" y="4390949"/>
            <a:ext cx="196230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2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powerteam-bnikorea.com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-9" r="-9" t="0" b="0"/>
          <a:stretch/>
        </p:blipFill>
        <p:spPr>
          <a:xfrm>
            <a:off x="4533595" y="1849831"/>
            <a:ext cx="3124505" cy="3619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700016" y="1677924"/>
            <a:ext cx="1019556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6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-9" r="-9" t="0" b="0"/>
          <a:stretch/>
        </p:blipFill>
        <p:spPr>
          <a:xfrm>
            <a:off x="8458200" y="1849831"/>
            <a:ext cx="3124505" cy="361919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624621" y="1677924"/>
            <a:ext cx="1019556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60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695298" y="2173529"/>
            <a:ext cx="952805" cy="952805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943100" y="2421331"/>
            <a:ext cx="457200" cy="45720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1441094" y="3354934"/>
            <a:ext cx="1463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(1분)</a:t>
            </a:r>
            <a:endParaRPr lang="en-US" sz="1800" dirty="0"/>
          </a:p>
        </p:txBody>
      </p:sp>
      <p:sp>
        <p:nvSpPr>
          <p:cNvPr id="24" name="Text 14"/>
          <p:cNvSpPr txBox="1"/>
          <p:nvPr/>
        </p:nvSpPr>
        <p:spPr>
          <a:xfrm>
            <a:off x="1321308" y="3812134"/>
            <a:ext cx="170444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웹사이트에 접속하여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간편하게 로그인하세요. </a:t>
            </a:r>
            <a:endParaRPr lang="en-US" sz="13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619902" y="2173529"/>
            <a:ext cx="952805" cy="952805"/>
          </a:xfrm>
          <a:prstGeom prst="rect">
            <a:avLst/>
          </a:prstGeom>
        </p:spPr>
      </p:pic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810098" y="2421331"/>
            <a:ext cx="571500" cy="45720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5202022" y="3354934"/>
            <a:ext cx="17913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입력 (1분)</a:t>
            </a:r>
            <a:endParaRPr lang="en-US" sz="1800" dirty="0"/>
          </a:p>
        </p:txBody>
      </p:sp>
      <p:sp>
        <p:nvSpPr>
          <p:cNvPr id="28" name="Text 16"/>
          <p:cNvSpPr txBox="1"/>
          <p:nvPr/>
        </p:nvSpPr>
        <p:spPr>
          <a:xfrm>
            <a:off x="5244998" y="3812134"/>
            <a:ext cx="170444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파트너 정보를 입력하고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'수익 단계'</a:t>
            </a:r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여부를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반드시 체크하세요. </a:t>
            </a:r>
            <a:endParaRPr lang="en-US" sz="13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544507" y="2173529"/>
            <a:ext cx="952805" cy="952805"/>
          </a:xfrm>
          <a:prstGeom prst="rect">
            <a:avLst/>
          </a:prstGeom>
        </p:spPr>
      </p:pic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791395" y="2421331"/>
            <a:ext cx="457200" cy="457200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9080906" y="3354934"/>
            <a:ext cx="18818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제출하기 (30초)</a:t>
            </a:r>
            <a:endParaRPr lang="en-US" sz="1800" dirty="0"/>
          </a:p>
        </p:txBody>
      </p:sp>
      <p:sp>
        <p:nvSpPr>
          <p:cNvPr id="32" name="Text 18"/>
          <p:cNvSpPr txBox="1"/>
          <p:nvPr/>
        </p:nvSpPr>
        <p:spPr>
          <a:xfrm>
            <a:off x="8976665" y="3812134"/>
            <a:ext cx="2095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버튼 한 번 클릭으로 끝!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당신의 입력이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챕터 RPI</a:t>
            </a:r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즉시 반영됩니다. </a:t>
            </a:r>
            <a:endParaRPr lang="en-US" sz="130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rcRect l="-6" r="-6" t="0" b="0"/>
          <a:stretch/>
        </p:blipFill>
        <p:spPr>
          <a:xfrm>
            <a:off x="609905" y="5776265"/>
            <a:ext cx="10972800" cy="777240"/>
          </a:xfrm>
          <a:prstGeom prst="rect">
            <a:avLst/>
          </a:prstGeom>
        </p:spPr>
      </p:pic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95" b="-195"/>
          <a:stretch/>
        </p:blipFill>
        <p:spPr>
          <a:xfrm>
            <a:off x="609905" y="5776265"/>
            <a:ext cx="75895" cy="777240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2979115" y="6004865"/>
            <a:ext cx="856609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지금 바로 시작하세요. 당신의 챕터도 </a:t>
            </a:r>
            <a:pPr algn="l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 5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진입할 수 있습니다 </a:t>
            </a:r>
            <a:endParaRPr lang="en-US" sz="1600" dirty="0"/>
          </a:p>
        </p:txBody>
      </p:sp>
      <p:pic>
        <p:nvPicPr>
          <p:cNvPr id="36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9003182" y="6068873"/>
            <a:ext cx="209398" cy="209398"/>
          </a:xfrm>
          <a:prstGeom prst="rect">
            <a:avLst/>
          </a:prstGeom>
        </p:spPr>
      </p:pic>
      <p:pic>
        <p:nvPicPr>
          <p:cNvPr id="37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0"/>
            <a:ext cx="2857500" cy="2857500"/>
          </a:xfrm>
          <a:prstGeom prst="rect">
            <a:avLst/>
          </a:prstGeom>
          <a:solidFill>
            <a:srgbClr val="F3F4F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3305"/>
            <a:ext cx="3810305" cy="1904695"/>
          </a:xfrm>
          <a:prstGeom prst="rect">
            <a:avLst/>
          </a:prstGeom>
          <a:solidFill>
            <a:srgbClr val="FEF2F2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0" y="6439205"/>
            <a:ext cx="228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9905" y="1104595"/>
            <a:ext cx="10972800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9905" y="304495"/>
            <a:ext cx="37819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HEALTH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609905"/>
            <a:ext cx="517367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건강한 챕터가 성공합니다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7319772" y="724205"/>
            <a:ext cx="42647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RPI 높은 챕터 = 건강한 챕터 = 지속 가능한 성장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905" y="3528670"/>
            <a:ext cx="10972800" cy="1067105"/>
          </a:xfrm>
          <a:prstGeom prst="roundRect">
            <a:avLst>
              <a:gd name="adj" fmla="val 918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905" y="4824374"/>
            <a:ext cx="3504895" cy="705002"/>
          </a:xfrm>
          <a:prstGeom prst="roundRect">
            <a:avLst>
              <a:gd name="adj" fmla="val 14022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1695" y="4977079"/>
            <a:ext cx="400507" cy="400507"/>
          </a:xfrm>
          <a:prstGeom prst="ellipse">
            <a:avLst/>
          </a:prstGeom>
          <a:solidFill>
            <a:srgbClr val="CF2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5995" y="5091379"/>
            <a:ext cx="171907" cy="17190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14907" y="5005426"/>
            <a:ext cx="1420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1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314907" y="5158130"/>
            <a:ext cx="1678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파워팀 툴킷 로그인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43400" y="4824374"/>
            <a:ext cx="3504895" cy="705002"/>
          </a:xfrm>
          <a:prstGeom prst="roundRect">
            <a:avLst>
              <a:gd name="adj" fmla="val 14022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496105" y="4977079"/>
            <a:ext cx="400507" cy="400507"/>
          </a:xfrm>
          <a:prstGeom prst="ellipse">
            <a:avLst/>
          </a:prstGeom>
          <a:solidFill>
            <a:srgbClr val="CF2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42" b="-842"/>
          <a:stretch/>
        </p:blipFill>
        <p:spPr>
          <a:xfrm>
            <a:off x="4600346" y="5091379"/>
            <a:ext cx="190195" cy="171907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048402" y="5005426"/>
            <a:ext cx="1353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2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5048402" y="5158130"/>
            <a:ext cx="1519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매주 RPS 입력 및 관리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076895" y="4824374"/>
            <a:ext cx="3504895" cy="705002"/>
          </a:xfrm>
          <a:prstGeom prst="roundRect">
            <a:avLst>
              <a:gd name="adj" fmla="val 14022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229600" y="4977079"/>
            <a:ext cx="400507" cy="400507"/>
          </a:xfrm>
          <a:prstGeom prst="ellipse">
            <a:avLst/>
          </a:prstGeom>
          <a:solidFill>
            <a:srgbClr val="CF2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43900" y="5091379"/>
            <a:ext cx="171907" cy="171907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781898" y="5005426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3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8781898" y="5158130"/>
            <a:ext cx="15416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분석으로 건강도 UP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-95098" y="5757977"/>
            <a:ext cx="12382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당신의 챕터도 </a:t>
            </a:r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 25%</a:t>
            </a:r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진입할 수 있습니다</a:t>
            </a:r>
            <a:endParaRPr lang="en-US" sz="13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9118" y="6100877"/>
            <a:ext cx="4362602" cy="5715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919118" y="6100877"/>
            <a:ext cx="4362602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75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powerteam-bnikorea.com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609905" y="1233526"/>
            <a:ext cx="3504895" cy="1990649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3766" y="1242670"/>
            <a:ext cx="952805" cy="24780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153766" y="1242670"/>
            <a:ext cx="9528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MODEL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847649" y="1814170"/>
            <a:ext cx="30294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90956" y="1471270"/>
            <a:ext cx="3143707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Crown 챕터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847649" y="1900123"/>
            <a:ext cx="15526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RPI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847649" y="2072030"/>
            <a:ext cx="15526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2.79</a:t>
            </a:r>
            <a:endParaRPr lang="en-US" sz="2100" dirty="0"/>
          </a:p>
        </p:txBody>
      </p:sp>
      <p:sp>
        <p:nvSpPr>
          <p:cNvPr id="37" name="Text 30"/>
          <p:cNvSpPr txBox="1"/>
          <p:nvPr/>
        </p:nvSpPr>
        <p:spPr>
          <a:xfrm>
            <a:off x="2400300" y="1900123"/>
            <a:ext cx="15947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참가율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2400300" y="2072030"/>
            <a:ext cx="15526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97.9%</a:t>
            </a:r>
            <a:endParaRPr lang="en-US" sz="2100" dirty="0"/>
          </a:p>
        </p:txBody>
      </p:sp>
      <p:sp>
        <p:nvSpPr>
          <p:cNvPr id="39" name="Shape 32"/>
          <p:cNvSpPr/>
          <p:nvPr/>
        </p:nvSpPr>
        <p:spPr>
          <a:xfrm>
            <a:off x="847649" y="2547518"/>
            <a:ext cx="3029407" cy="437998"/>
          </a:xfrm>
          <a:prstGeom prst="roundRect">
            <a:avLst>
              <a:gd name="adj" fmla="val 18154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872338" y="2643530"/>
            <a:ext cx="5614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챕터 규모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3482035" y="2624328"/>
            <a:ext cx="362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45명</a:t>
            </a:r>
            <a:endParaRPr lang="en-US" sz="10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397" b="-397"/>
          <a:stretch/>
        </p:blipFill>
        <p:spPr>
          <a:xfrm>
            <a:off x="923544" y="2852928"/>
            <a:ext cx="2876702" cy="57607"/>
          </a:xfrm>
          <a:prstGeom prst="rect">
            <a:avLst/>
          </a:prstGeom>
        </p:spPr>
      </p:pic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04" b="-404"/>
          <a:stretch/>
        </p:blipFill>
        <p:spPr>
          <a:xfrm>
            <a:off x="923544" y="2852928"/>
            <a:ext cx="2588666" cy="57607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4343400" y="1233526"/>
            <a:ext cx="3504895" cy="1990649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7571" y="1242670"/>
            <a:ext cx="1218895" cy="24780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627571" y="1242670"/>
            <a:ext cx="12198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RETENTION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4581144" y="1814170"/>
            <a:ext cx="3029407" cy="914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4524451" y="1471270"/>
            <a:ext cx="3143707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Smart 챕터</a:t>
            </a:r>
            <a:endParaRPr lang="en-US" sz="1300" dirty="0"/>
          </a:p>
        </p:txBody>
      </p:sp>
      <p:sp>
        <p:nvSpPr>
          <p:cNvPr id="49" name="Text 39"/>
          <p:cNvSpPr txBox="1"/>
          <p:nvPr/>
        </p:nvSpPr>
        <p:spPr>
          <a:xfrm>
            <a:off x="4581144" y="1900123"/>
            <a:ext cx="15526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RPI</a:t>
            </a:r>
            <a:endParaRPr lang="en-US" sz="900" dirty="0"/>
          </a:p>
        </p:txBody>
      </p:sp>
      <p:sp>
        <p:nvSpPr>
          <p:cNvPr id="50" name="Text 40"/>
          <p:cNvSpPr txBox="1"/>
          <p:nvPr/>
        </p:nvSpPr>
        <p:spPr>
          <a:xfrm>
            <a:off x="4581144" y="2072030"/>
            <a:ext cx="15526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2.63</a:t>
            </a:r>
            <a:endParaRPr lang="en-US" sz="2100" dirty="0"/>
          </a:p>
        </p:txBody>
      </p:sp>
      <p:sp>
        <p:nvSpPr>
          <p:cNvPr id="51" name="Text 41"/>
          <p:cNvSpPr txBox="1"/>
          <p:nvPr/>
        </p:nvSpPr>
        <p:spPr>
          <a:xfrm>
            <a:off x="6133795" y="1900123"/>
            <a:ext cx="15947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참가율</a:t>
            </a:r>
            <a:endParaRPr lang="en-US" sz="900" dirty="0"/>
          </a:p>
        </p:txBody>
      </p:sp>
      <p:sp>
        <p:nvSpPr>
          <p:cNvPr id="52" name="Text 42"/>
          <p:cNvSpPr txBox="1"/>
          <p:nvPr/>
        </p:nvSpPr>
        <p:spPr>
          <a:xfrm>
            <a:off x="6133795" y="2072030"/>
            <a:ext cx="15526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89.3%</a:t>
            </a:r>
            <a:endParaRPr lang="en-US" sz="2100" dirty="0"/>
          </a:p>
        </p:txBody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144" y="2738628"/>
            <a:ext cx="3029407" cy="247802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5664708" y="2738628"/>
            <a:ext cx="1945843" cy="2478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ECAC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멤버 유지율 달성</a:t>
            </a:r>
            <a:endParaRPr lang="en-US" sz="900" dirty="0"/>
          </a:p>
        </p:txBody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80" b="-80"/>
          <a:stretch/>
        </p:blipFill>
        <p:spPr>
          <a:xfrm>
            <a:off x="5484571" y="2809951"/>
            <a:ext cx="142646" cy="114300"/>
          </a:xfrm>
          <a:prstGeom prst="rect">
            <a:avLst/>
          </a:prstGeom>
        </p:spPr>
      </p:pic>
      <p:sp>
        <p:nvSpPr>
          <p:cNvPr id="56" name="Shape 44"/>
          <p:cNvSpPr/>
          <p:nvPr/>
        </p:nvSpPr>
        <p:spPr>
          <a:xfrm>
            <a:off x="8076895" y="1233526"/>
            <a:ext cx="3504895" cy="1990649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57662" y="1242670"/>
            <a:ext cx="1019556" cy="247802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10557662" y="1242670"/>
            <a:ext cx="10195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CONSISTENCY</a:t>
            </a:r>
            <a:endParaRPr lang="en-US" sz="900" dirty="0"/>
          </a:p>
        </p:txBody>
      </p:sp>
      <p:sp>
        <p:nvSpPr>
          <p:cNvPr id="59" name="Shape 46"/>
          <p:cNvSpPr/>
          <p:nvPr/>
        </p:nvSpPr>
        <p:spPr>
          <a:xfrm>
            <a:off x="8315554" y="1814170"/>
            <a:ext cx="30294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60" name="Text 47"/>
          <p:cNvSpPr txBox="1"/>
          <p:nvPr/>
        </p:nvSpPr>
        <p:spPr>
          <a:xfrm>
            <a:off x="8257946" y="1471270"/>
            <a:ext cx="3143707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Honors 챕터</a:t>
            </a:r>
            <a:endParaRPr lang="en-US" sz="1300" dirty="0"/>
          </a:p>
        </p:txBody>
      </p:sp>
      <p:sp>
        <p:nvSpPr>
          <p:cNvPr id="61" name="Text 48"/>
          <p:cNvSpPr txBox="1"/>
          <p:nvPr/>
        </p:nvSpPr>
        <p:spPr>
          <a:xfrm>
            <a:off x="8315554" y="1900123"/>
            <a:ext cx="15526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RPI</a:t>
            </a:r>
            <a:endParaRPr lang="en-US" sz="900" dirty="0"/>
          </a:p>
        </p:txBody>
      </p:sp>
      <p:sp>
        <p:nvSpPr>
          <p:cNvPr id="62" name="Text 49"/>
          <p:cNvSpPr txBox="1"/>
          <p:nvPr/>
        </p:nvSpPr>
        <p:spPr>
          <a:xfrm>
            <a:off x="8315554" y="2072030"/>
            <a:ext cx="15526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2.67</a:t>
            </a:r>
            <a:endParaRPr lang="en-US" sz="2100" dirty="0"/>
          </a:p>
        </p:txBody>
      </p:sp>
      <p:sp>
        <p:nvSpPr>
          <p:cNvPr id="63" name="Text 50"/>
          <p:cNvSpPr txBox="1"/>
          <p:nvPr/>
        </p:nvSpPr>
        <p:spPr>
          <a:xfrm>
            <a:off x="9868205" y="1900123"/>
            <a:ext cx="15947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참가율</a:t>
            </a:r>
            <a:endParaRPr lang="en-US" sz="900" dirty="0"/>
          </a:p>
        </p:txBody>
      </p:sp>
      <p:sp>
        <p:nvSpPr>
          <p:cNvPr id="64" name="Text 51"/>
          <p:cNvSpPr txBox="1"/>
          <p:nvPr/>
        </p:nvSpPr>
        <p:spPr>
          <a:xfrm>
            <a:off x="9868205" y="2072030"/>
            <a:ext cx="15526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96.7%</a:t>
            </a:r>
            <a:endParaRPr lang="en-US" sz="2100" dirty="0"/>
          </a:p>
        </p:txBody>
      </p:sp>
      <p:sp>
        <p:nvSpPr>
          <p:cNvPr id="65" name="Shape 52"/>
          <p:cNvSpPr/>
          <p:nvPr/>
        </p:nvSpPr>
        <p:spPr>
          <a:xfrm>
            <a:off x="8315554" y="2547518"/>
            <a:ext cx="3029407" cy="437998"/>
          </a:xfrm>
          <a:prstGeom prst="roundRect">
            <a:avLst>
              <a:gd name="adj" fmla="val 18154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53"/>
          <p:cNvSpPr txBox="1"/>
          <p:nvPr/>
        </p:nvSpPr>
        <p:spPr>
          <a:xfrm>
            <a:off x="8353044" y="2643530"/>
            <a:ext cx="400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참여도</a:t>
            </a:r>
            <a:endParaRPr lang="en-US" sz="900" dirty="0"/>
          </a:p>
        </p:txBody>
      </p:sp>
      <p:sp>
        <p:nvSpPr>
          <p:cNvPr id="67" name="Text 54"/>
          <p:cNvSpPr txBox="1"/>
          <p:nvPr/>
        </p:nvSpPr>
        <p:spPr>
          <a:xfrm>
            <a:off x="10571378" y="2624328"/>
            <a:ext cx="7598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Very High</a:t>
            </a:r>
            <a:endParaRPr lang="en-US" sz="1000" dirty="0"/>
          </a:p>
        </p:txBody>
      </p:sp>
      <p:pic>
        <p:nvPicPr>
          <p:cNvPr id="6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397" b="-397"/>
          <a:stretch/>
        </p:blipFill>
        <p:spPr>
          <a:xfrm>
            <a:off x="8391449" y="2852928"/>
            <a:ext cx="2876702" cy="57607"/>
          </a:xfrm>
          <a:prstGeom prst="rect">
            <a:avLst/>
          </a:prstGeom>
        </p:spPr>
      </p:pic>
      <p:pic>
        <p:nvPicPr>
          <p:cNvPr id="69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398" b="-398"/>
          <a:stretch/>
        </p:blipFill>
        <p:spPr>
          <a:xfrm>
            <a:off x="8391449" y="2852928"/>
            <a:ext cx="2761488" cy="57607"/>
          </a:xfrm>
          <a:prstGeom prst="rect">
            <a:avLst/>
          </a:prstGeom>
        </p:spPr>
      </p:pic>
      <p:pic>
        <p:nvPicPr>
          <p:cNvPr id="70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670609" y="3709721"/>
            <a:ext cx="476402" cy="476402"/>
          </a:xfrm>
          <a:prstGeom prst="rect">
            <a:avLst/>
          </a:prstGeom>
        </p:spPr>
      </p:pic>
      <p:pic>
        <p:nvPicPr>
          <p:cNvPr id="71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813255" y="3853282"/>
            <a:ext cx="190195" cy="190195"/>
          </a:xfrm>
          <a:prstGeom prst="rect">
            <a:avLst/>
          </a:prstGeom>
        </p:spPr>
      </p:pic>
      <p:sp>
        <p:nvSpPr>
          <p:cNvPr id="72" name="Text 55"/>
          <p:cNvSpPr txBox="1"/>
          <p:nvPr/>
        </p:nvSpPr>
        <p:spPr>
          <a:xfrm>
            <a:off x="884225" y="4262018"/>
            <a:ext cx="20509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RPI</a:t>
            </a:r>
            <a:endParaRPr lang="en-US" sz="900" dirty="0"/>
          </a:p>
        </p:txBody>
      </p:sp>
      <p:pic>
        <p:nvPicPr>
          <p:cNvPr id="73" name="Image 15" descr="preencoded.png">    </p:cNvPr>
          <p:cNvPicPr>
            <a:picLocks noChangeAspect="1"/>
          </p:cNvPicPr>
          <p:nvPr/>
        </p:nvPicPr>
        <p:blipFill>
          <a:blip r:embed="rId16">
            <a:alphaModFix amt="50000"/>
          </a:blip>
          <a:srcRect l="-1923" r="-1923" t="0" b="0"/>
          <a:stretch/>
        </p:blipFill>
        <p:spPr>
          <a:xfrm>
            <a:off x="2894076" y="3972154"/>
            <a:ext cx="123444" cy="190195"/>
          </a:xfrm>
          <a:prstGeom prst="rect">
            <a:avLst/>
          </a:prstGeom>
        </p:spPr>
      </p:pic>
      <p:pic>
        <p:nvPicPr>
          <p:cNvPr id="74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3764585" y="3709721"/>
            <a:ext cx="476402" cy="476402"/>
          </a:xfrm>
          <a:prstGeom prst="rect">
            <a:avLst/>
          </a:prstGeom>
        </p:spPr>
      </p:pic>
      <p:pic>
        <p:nvPicPr>
          <p:cNvPr id="75" name="Image 17" descr="preencoded.png">    </p:cNvPr>
          <p:cNvPicPr>
            <a:picLocks noChangeAspect="1"/>
          </p:cNvPicPr>
          <p:nvPr/>
        </p:nvPicPr>
        <p:blipFill>
          <a:blip r:embed="rId18"/>
          <a:srcRect l="-1282" r="-1282" t="0" b="0"/>
          <a:stretch/>
        </p:blipFill>
        <p:spPr>
          <a:xfrm>
            <a:off x="3892601" y="3853282"/>
            <a:ext cx="219456" cy="190195"/>
          </a:xfrm>
          <a:prstGeom prst="rect">
            <a:avLst/>
          </a:prstGeom>
        </p:spPr>
      </p:pic>
      <p:sp>
        <p:nvSpPr>
          <p:cNvPr id="76" name="Text 56"/>
          <p:cNvSpPr txBox="1"/>
          <p:nvPr/>
        </p:nvSpPr>
        <p:spPr>
          <a:xfrm>
            <a:off x="2938882" y="4262018"/>
            <a:ext cx="2129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참가율</a:t>
            </a:r>
            <a:endParaRPr lang="en-US" sz="900" dirty="0"/>
          </a:p>
        </p:txBody>
      </p:sp>
      <p:pic>
        <p:nvPicPr>
          <p:cNvPr id="77" name="Image 18" descr="preencoded.png">    </p:cNvPr>
          <p:cNvPicPr>
            <a:picLocks noChangeAspect="1"/>
          </p:cNvPicPr>
          <p:nvPr/>
        </p:nvPicPr>
        <p:blipFill>
          <a:blip r:embed="rId19">
            <a:alphaModFix amt="50000"/>
          </a:blip>
          <a:srcRect l="-1923" r="-1923" t="0" b="0"/>
          <a:stretch/>
        </p:blipFill>
        <p:spPr>
          <a:xfrm>
            <a:off x="4987138" y="3972154"/>
            <a:ext cx="123444" cy="190195"/>
          </a:xfrm>
          <a:prstGeom prst="rect">
            <a:avLst/>
          </a:prstGeom>
        </p:spPr>
      </p:pic>
      <p:pic>
        <p:nvPicPr>
          <p:cNvPr id="78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5857646" y="3709721"/>
            <a:ext cx="476402" cy="476402"/>
          </a:xfrm>
          <a:prstGeom prst="rect">
            <a:avLst/>
          </a:prstGeom>
        </p:spPr>
      </p:pic>
      <p:pic>
        <p:nvPicPr>
          <p:cNvPr id="79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5976518" y="3853282"/>
            <a:ext cx="237744" cy="190195"/>
          </a:xfrm>
          <a:prstGeom prst="rect">
            <a:avLst/>
          </a:prstGeom>
        </p:spPr>
      </p:pic>
      <p:sp>
        <p:nvSpPr>
          <p:cNvPr id="80" name="Text 57"/>
          <p:cNvSpPr txBox="1"/>
          <p:nvPr/>
        </p:nvSpPr>
        <p:spPr>
          <a:xfrm>
            <a:off x="5031943" y="4262018"/>
            <a:ext cx="2129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큰 챕터 규모</a:t>
            </a:r>
            <a:endParaRPr lang="en-US" sz="900" dirty="0"/>
          </a:p>
        </p:txBody>
      </p:sp>
      <p:pic>
        <p:nvPicPr>
          <p:cNvPr id="81" name="Image 21" descr="preencoded.png">    </p:cNvPr>
          <p:cNvPicPr>
            <a:picLocks noChangeAspect="1"/>
          </p:cNvPicPr>
          <p:nvPr/>
        </p:nvPicPr>
        <p:blipFill>
          <a:blip r:embed="rId22">
            <a:alphaModFix amt="50000"/>
          </a:blip>
          <a:srcRect l="-1923" r="-1923" t="0" b="0"/>
          <a:stretch/>
        </p:blipFill>
        <p:spPr>
          <a:xfrm>
            <a:off x="7081114" y="3972154"/>
            <a:ext cx="123444" cy="190195"/>
          </a:xfrm>
          <a:prstGeom prst="rect">
            <a:avLst/>
          </a:prstGeom>
        </p:spPr>
      </p:pic>
      <p:pic>
        <p:nvPicPr>
          <p:cNvPr id="82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7951622" y="3709721"/>
            <a:ext cx="476402" cy="476402"/>
          </a:xfrm>
          <a:prstGeom prst="rect">
            <a:avLst/>
          </a:prstGeom>
        </p:spPr>
      </p:pic>
      <p:pic>
        <p:nvPicPr>
          <p:cNvPr id="83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8070494" y="3853282"/>
            <a:ext cx="237744" cy="190195"/>
          </a:xfrm>
          <a:prstGeom prst="rect">
            <a:avLst/>
          </a:prstGeom>
        </p:spPr>
      </p:pic>
      <p:sp>
        <p:nvSpPr>
          <p:cNvPr id="84" name="Text 58"/>
          <p:cNvSpPr txBox="1"/>
          <p:nvPr/>
        </p:nvSpPr>
        <p:spPr>
          <a:xfrm>
            <a:off x="7125919" y="4262018"/>
            <a:ext cx="2129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유지율</a:t>
            </a:r>
            <a:endParaRPr lang="en-US" sz="900" dirty="0"/>
          </a:p>
        </p:txBody>
      </p:sp>
      <p:pic>
        <p:nvPicPr>
          <p:cNvPr id="85" name="Image 24" descr="preencoded.png">    </p:cNvPr>
          <p:cNvPicPr>
            <a:picLocks noChangeAspect="1"/>
          </p:cNvPicPr>
          <p:nvPr/>
        </p:nvPicPr>
        <p:blipFill>
          <a:blip r:embed="rId25">
            <a:alphaModFix amt="50000"/>
          </a:blip>
          <a:srcRect l="-1923" r="-1923" t="0" b="0"/>
          <a:stretch/>
        </p:blipFill>
        <p:spPr>
          <a:xfrm>
            <a:off x="9174175" y="3972154"/>
            <a:ext cx="123444" cy="190195"/>
          </a:xfrm>
          <a:prstGeom prst="rect">
            <a:avLst/>
          </a:prstGeom>
        </p:spPr>
      </p:pic>
      <p:pic>
        <p:nvPicPr>
          <p:cNvPr id="86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10044684" y="3690518"/>
            <a:ext cx="476402" cy="476402"/>
          </a:xfrm>
          <a:prstGeom prst="rect">
            <a:avLst/>
          </a:prstGeom>
        </p:spPr>
      </p:pic>
      <p:pic>
        <p:nvPicPr>
          <p:cNvPr id="87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10188245" y="3834079"/>
            <a:ext cx="190195" cy="190195"/>
          </a:xfrm>
          <a:prstGeom prst="rect">
            <a:avLst/>
          </a:prstGeom>
        </p:spPr>
      </p:pic>
      <p:sp>
        <p:nvSpPr>
          <p:cNvPr id="88" name="Text 59"/>
          <p:cNvSpPr txBox="1"/>
          <p:nvPr/>
        </p:nvSpPr>
        <p:spPr>
          <a:xfrm>
            <a:off x="9219895" y="4243730"/>
            <a:ext cx="2129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성장</a:t>
            </a:r>
            <a:endParaRPr lang="en-US" sz="1000" dirty="0"/>
          </a:p>
        </p:txBody>
      </p:sp>
      <p:pic>
        <p:nvPicPr>
          <p:cNvPr id="89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2026-02-24T18:27:31Z</dcterms:created>
  <dcterms:modified xsi:type="dcterms:W3CDTF">2026-02-24T18:27:31Z</dcterms:modified>
</cp:coreProperties>
</file>