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#1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BNI KOREA POWERTEAM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무작위 리드에서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의도적 리퍼럴로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파워팀 툴킷과 함께하는 체계적 리퍼럴 파트너 영입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1/26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#2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THE OLD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지금까지의 방식: 무작위 리드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"Leads are Random" — BNI Global Power Team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불확실한 무작위 리드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낮은 신뢰와 일방적 관계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낮은 전환율과 성과 저조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#3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THE SMART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새로운 방식: 의도적 리퍼럴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"Referrals are Intentional" — BNI Global Power Team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타겟이 명확한 의도적 리퍼럴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신뢰의 서클 (Trust Circle) 기반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구조적 협력으로 기회 배가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최소 4명의 비경쟁 비즈니스가 협력하여 이상적 고객을 공유하고 성장을 가속화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3/26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#4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WHY POWER TEAM?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무작위 리드 VS 의도적 리퍼럴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THE OLD WAY                    THE SMART WAY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불확실한 리드                    타겟 명확 리퍼럴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낮은 신뢰도                      Trust Circle 기반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성과 저조                          기회 배가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당신은 어느 쪽을 선택하시겠습니까?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4/26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#5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STATISTICAL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의도적 리퍼럴은 데이터가 증명합니다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BNI Korea 85개 챕터 분석 · 4개 지표 모두 p &lt; 0.05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참가율          +0.602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챕터 규모      +0.355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멤버 유지율   +0.318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방문자 활동   +0.231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5/26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#6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DATA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상위 25% vs 하위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의도적 리퍼럴을 실천하는 챕터 vs 그렇지 않은 챕터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+24% 챕터 규모 (44.3명 vs 35.6명)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+19% 멤버 유지율 (74.4% vs 62.4%)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+30% 방문자 활동 (1.63명 vs 1.25명)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6/26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#7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체계적 리퍼럴 파트너 영입,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파워팀 툴킷과 함께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V·C·P 관계 측정 → RPI 점수 산출 → 챕터 건강도 확인 → 지속 성장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회원 평균 ROI: 회원비의 2배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7/26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#8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레드라이트에서 그린라이트로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리퍼럴 파트너 영입 현황을 한눈에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나의 입력 현황과 챕터 멤버 전원의 현황을 한 화면에서 비교할 수 있습니다.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누가, 어떤 전문분야의 파트너를 찾고 있는지 서로 확인하고 함께 협력하세요.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🔴 레드라이트 — 전문분야만 입력 (아직 영입 전)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🟢 그린라이트 — 파트너 성함 입력 (실제 영입 완료)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[대시보드 이미지: 스크린샷 2026-02-27 155022.png]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8/26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#9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HOW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이렇게 사용하시면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복잡하지 않습니다. 3분이면 충분합니다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① 로그인 — powerteam-bnikorea.com 접속 후 간편 로그인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② 정보 입력 — 파트너 정보 입력, '수익 단계' 체크 필수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③ 제출하기 — 버튼 한 번으로 끝! 챕터 RPI에 즉시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9/26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#10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6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무작위에서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의도적으로,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지금 시작하세요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powerteam-bnikorea.com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Givers Gain · BNI Korea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10/26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[최종] #11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감사합니다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질문이 있으시면 말씀해주세요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powerteam-bnikorea.com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11/26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#B1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GLOBAL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글로벌 파워팀의 철학을 디지털 툴킷으로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1단계: 비즈니스 협업 역량진단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2단계: 핵심 고객 프로필 매핑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3단계(오늘의 주제): RPS 리퍼럴 파트너 스코어보드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"Referrals are Intentional, not Random." — BNI Global Power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12/26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#B2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BNI KOREA POWERTEAM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RPS로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리퍼럴 파트너를 확보하세요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Referral Partner Scoreboard · 사용 가이드 &amp; 데이터 인사이트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35+ 참여 국가    |    85 활성 챕터    |    0.62 평균 RPI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13/26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#B3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V → C → P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관계의 3단계: 가시성 → 신뢰성 → 수익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Visibility(가시성): "무엇을 하시는지 알아요"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Credibility(신뢰성): "믿고 추천할 수 있어요"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Profitability(수익): "비즈니스가 오가고 있어요!"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P 체크 횟수 = RPI 점수 → 챕터 건강도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14/26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#B4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HOW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3분이면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rps-bnikorea.com · BNI Connect 이메일 + 4자리 비밀번호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① 접속 &amp; 로그인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② 파트너별 VCR 단계 선택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③ 제출 — 끝!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15/26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#B5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DATA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상위 25% vs 하위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RPI ≥ 0.91 vs RPI ≤ 0.22 · p &lt; 0.05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+24% 챕터 규모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+19% 멤버 유지율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+30% 방문자 활동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16/26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#B6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SUCCESS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TOP 챕터의 성장 공식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RPI 2.0 이상 + 참가율 89% 이상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Crown 2.79 (참가율 97.9%)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Smart 2.63 (참가율 89.3%)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Synergy 2.35 (참가율 98.7%)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높은 RPI → 참가율↑ → 규모↑ → 유지율↑ → 지속 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17/26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#B7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RPS가 강력한 3가지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01. 관계를 측정 가능하게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02. 전략적 파트너십 설계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03. 챕터 전체 선순환 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18/26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[추가] #B8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6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매주 3분이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챕터의 미래를 바꿉니다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지금 바로 시작하기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rps-bnikorea.com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Givers Gain · BNI Korea × TOWN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19/26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#A1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APPENDIX · ORIGINAL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파워팀 툴킷 완벽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Givers Gain · BNI KOREA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RPS 관리 · RPI 연동 · 입력수치 최적화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10분 핵심 프레젠테이션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20/26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#A2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WHY POWER TEAM?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무작위 리드 VS 의도적 리퍼럴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THE OLD WAY: "Leads are Random"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불확실한 무작위 리드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낮은 신뢰와 일방적 관계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낮은 전환율과 성과 저조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THE SMART WAY: "Referrals are Intentional"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타겟이 명확한 의도적 리퍼럴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신뢰의 서클 (Trust Circle) 기반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• 구조적 협력으로 기회 배가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파워팀의 힘: 최소 4명의 비경쟁 비즈니스 협력 · ROI: 회원비의 2배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21/26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#A3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STATISTICAL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RPI와 챕터 건강도의 강력한 상관관계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"RPI는 챕터 건강도의 핵심 지표입니다" · 4가지 핵심 지표 (p &lt; 0.05)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참가율 +0.602 (Strong, p&lt;0.001)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챕터 규모 +0.355 (Moderate, p=0.0012)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멤버 유지율 +0.318 (Moderate, p=0.0041)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방문자 활동 +0.231 (Weak, p=0.0392)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22/26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#A4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DATA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TOP 25% vs BOTTOM 25%: 데이터로 본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LOW RPI (하위25%, ≤0.22): 35.6명 / 62.4% / 1.25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HIGH RPI (상위25%, ≥0.91): 44.3명 / 74.4% / 1.63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+24% 더 큰 규모 / +19% 더 높은 안정성 / +30% 더 많은 기회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HIGH RPI → 규모 확대 → 조직 안정화 → 외부 유입↑ → 지속 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23/26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#A5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STATISTICAL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통계적 증거: 데이터가 말합니다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p &lt; 0.05 = 통계적으로 유의미함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+0.602 참가율 (강한 긍정적, p&lt;0.001)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+0.355 챕터 규모 (중간 긍정적, p=0.0012)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+0.318 멤버 유지율 (중간 긍정적, p=0.0041)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+0.231 방문자 활동 (약한 긍정적, p=0.0392)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"RPI는 챕터의 건강도를 측정하는 가장 신뢰할 수 있는 지표입니다."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24/26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22222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#A6</a:t>
            </a:r>
          </a:p>
        </p:txBody>
      </p:sp>
      <p:pic>
        <p:nvPicPr>
          <p:cNvPr id="4" name="Picture 3" descr="BNI로고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CF1F2E"/>
                </a:solidFill>
                <a:latin typeface="Pretendard"/>
              </a:defRPr>
            </a:pPr>
            <a:r>
              <a:t>QUICK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Paperlogy"/>
              </a:defRPr>
            </a:pPr>
            <a:r>
              <a:t>복잡하지 않습니다. 3분이면 충분합니다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누구나 쉽게 시작하는 3단계 가이드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01. 로그인(1분) — powerteam-bnikorea.com 접속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02. 정보 입력(1분) — 파트너 정보 입력, 수익 단계 체크 필수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03. 제출하기(30초) — 버튼 한 번으로 끝! 챕터 RPI에 즉시 반영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666666"/>
                </a:solidFill>
                <a:latin typeface="Pretendard"/>
              </a:defRPr>
            </a:pPr>
            <a:r>
              <a:t>당신의 챕터도 TOP 5에 진입할 수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9999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99999"/>
                </a:solidFill>
                <a:latin typeface="Pretendard"/>
              </a:defRPr>
            </a:pPr>
            <a:r>
              <a:t>25/26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15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CCCDD"/>
                </a:solidFill>
                <a:latin typeface="Pretendard"/>
              </a:defRPr>
            </a:pPr>
            <a:r>
              <a:t>My PowerTeam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45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CF1F2E"/>
                </a:solidFill>
                <a:latin typeface="Pretendard"/>
              </a:defRPr>
            </a:pPr>
            <a:r>
              <a:t>[초안] #A7</a:t>
            </a:r>
          </a:p>
        </p:txBody>
      </p:sp>
      <p:pic>
        <p:nvPicPr>
          <p:cNvPr id="4" name="Picture 3" descr="BNI로고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200000"/>
            <a:ext cx="756655" cy="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00" y="1400000"/>
            <a:ext cx="10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666677"/>
                </a:solidFill>
                <a:latin typeface="Pretendard"/>
              </a:defRPr>
            </a:pPr>
            <a:r>
              <a:t>CHAPTER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Paperlogy"/>
              </a:defRPr>
            </a:pPr>
            <a:r>
              <a:t>건강한 챕터가 성공합니다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000" y="3100000"/>
            <a:ext cx="1000000" cy="5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3400000"/>
            <a:ext cx="9792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RPI 높은 챕터 = 건강한 챕터 = 지속 가능한 성장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Crown RPI 2.79 (참가율 97.9%, 45명)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Smart RPI 2.63 (참가율 89.3%)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Honors RPI 2.67 (참가율 96.7%)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ACTION 1: 지금 파워팀 툴킷 로그인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ACTION 2: 매주 RPS 입력 및 관리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ACTION 3: AI 분석으로 건강도 UP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888899"/>
                </a:solidFill>
                <a:latin typeface="Pretendard"/>
              </a:defRPr>
            </a:pPr>
            <a:r>
              <a:t>당신의 챕터도 TOP 25%에 진입할 수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650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888899"/>
                </a:solidFill>
                <a:latin typeface="Pretendard"/>
              </a:defRPr>
            </a:pPr>
            <a:r>
              <a:t>COPYRIGHT© BNI K. JOY CO.,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0" y="65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888899"/>
                </a:solidFill>
                <a:latin typeface="Pretendard"/>
              </a:defRPr>
            </a:pPr>
            <a:r>
              <a:t>26/26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8000"/>
            <a:ext cx="12192000" cy="60000"/>
          </a:xfrm>
          <a:prstGeom prst="rect">
            <a:avLst/>
          </a:prstGeom>
          <a:solidFill>
            <a:srgbClr val="CF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